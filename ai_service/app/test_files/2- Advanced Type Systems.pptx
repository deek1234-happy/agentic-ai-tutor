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image" Target="../media/image-3-25.png"/><Relationship Id="rId26" Type="http://schemas.openxmlformats.org/officeDocument/2006/relationships/image" Target="../media/image-3-26.png"/><Relationship Id="rId27" Type="http://schemas.openxmlformats.org/officeDocument/2006/relationships/image" Target="../media/image-3-27.png"/><Relationship Id="rId28" Type="http://schemas.openxmlformats.org/officeDocument/2006/relationships/slideLayout" Target="../slideLayouts/slideLayout1.xml"/><Relationship Id="rId2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image" Target="../media/image-4-26.png"/><Relationship Id="rId27" Type="http://schemas.openxmlformats.org/officeDocument/2006/relationships/image" Target="../media/image-4-27.png"/><Relationship Id="rId28" Type="http://schemas.openxmlformats.org/officeDocument/2006/relationships/image" Target="../media/image-4-28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image" Target="../media/image-5-23.png"/><Relationship Id="rId24" Type="http://schemas.openxmlformats.org/officeDocument/2006/relationships/image" Target="../media/image-5-24.png"/><Relationship Id="rId25" Type="http://schemas.openxmlformats.org/officeDocument/2006/relationships/image" Target="../media/image-5-25.png"/><Relationship Id="rId26" Type="http://schemas.openxmlformats.org/officeDocument/2006/relationships/image" Target="../media/image-5-26.png"/><Relationship Id="rId27" Type="http://schemas.openxmlformats.org/officeDocument/2006/relationships/image" Target="../media/image-5-27.png"/><Relationship Id="rId28" Type="http://schemas.openxmlformats.org/officeDocument/2006/relationships/image" Target="../media/image-5-28.png"/><Relationship Id="rId29" Type="http://schemas.openxmlformats.org/officeDocument/2006/relationships/image" Target="../media/image-5-29.png"/><Relationship Id="rId30" Type="http://schemas.openxmlformats.org/officeDocument/2006/relationships/image" Target="../media/image-5-30.png"/><Relationship Id="rId31" Type="http://schemas.openxmlformats.org/officeDocument/2006/relationships/image" Target="../media/image-5-31.png"/><Relationship Id="rId32" Type="http://schemas.openxmlformats.org/officeDocument/2006/relationships/slideLayout" Target="../slideLayouts/slideLayout1.xml"/><Relationship Id="rId3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image" Target="../media/image-9-21.png"/><Relationship Id="rId22" Type="http://schemas.openxmlformats.org/officeDocument/2006/relationships/image" Target="../media/image-9-22.png"/><Relationship Id="rId23" Type="http://schemas.openxmlformats.org/officeDocument/2006/relationships/image" Target="../media/image-9-23.png"/><Relationship Id="rId24" Type="http://schemas.openxmlformats.org/officeDocument/2006/relationships/image" Target="../media/image-9-24.png"/><Relationship Id="rId25" Type="http://schemas.openxmlformats.org/officeDocument/2006/relationships/image" Target="../media/image-9-25.png"/><Relationship Id="rId26" Type="http://schemas.openxmlformats.org/officeDocument/2006/relationships/image" Target="../media/image-9-26.png"/><Relationship Id="rId27" Type="http://schemas.openxmlformats.org/officeDocument/2006/relationships/image" Target="../media/image-9-27.png"/><Relationship Id="rId28" Type="http://schemas.openxmlformats.org/officeDocument/2006/relationships/image" Target="../media/image-9-28.png"/><Relationship Id="rId29" Type="http://schemas.openxmlformats.org/officeDocument/2006/relationships/image" Target="../media/image-9-29.png"/><Relationship Id="rId30" Type="http://schemas.openxmlformats.org/officeDocument/2006/relationships/slideLayout" Target="../slideLayouts/slideLayout1.xml"/><Relationship Id="rId3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png"/><Relationship Id="rId21" Type="http://schemas.openxmlformats.org/officeDocument/2006/relationships/image" Target="../media/image-10-21.png"/><Relationship Id="rId22" Type="http://schemas.openxmlformats.org/officeDocument/2006/relationships/image" Target="../media/image-10-22.png"/><Relationship Id="rId23" Type="http://schemas.openxmlformats.org/officeDocument/2006/relationships/image" Target="../media/image-10-23.png"/><Relationship Id="rId24" Type="http://schemas.openxmlformats.org/officeDocument/2006/relationships/image" Target="../media/image-10-24.png"/><Relationship Id="rId25" Type="http://schemas.openxmlformats.org/officeDocument/2006/relationships/image" Target="../media/image-10-25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png"/><Relationship Id="rId19" Type="http://schemas.openxmlformats.org/officeDocument/2006/relationships/image" Target="../media/image-11-19.png"/><Relationship Id="rId20" Type="http://schemas.openxmlformats.org/officeDocument/2006/relationships/image" Target="../media/image-11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png"/><Relationship Id="rId17" Type="http://schemas.openxmlformats.org/officeDocument/2006/relationships/image" Target="../media/image-13-17.png"/><Relationship Id="rId18" Type="http://schemas.openxmlformats.org/officeDocument/2006/relationships/image" Target="../media/image-13-18.png"/><Relationship Id="rId19" Type="http://schemas.openxmlformats.org/officeDocument/2006/relationships/image" Target="../media/image-13-19.png"/><Relationship Id="rId20" Type="http://schemas.openxmlformats.org/officeDocument/2006/relationships/image" Target="../media/image-13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1657350"/>
            <a:ext cx="571500" cy="4572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400" y="1657350"/>
            <a:ext cx="514350" cy="4572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150" y="1657350"/>
            <a:ext cx="514350" cy="4572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3067050"/>
            <a:ext cx="1219200" cy="381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3162" y="501015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3463" y="5010150"/>
            <a:ext cx="133350" cy="1524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6248400"/>
            <a:ext cx="12192000" cy="6096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25521" y="6134100"/>
            <a:ext cx="171450" cy="3048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87335" y="6134100"/>
            <a:ext cx="200025" cy="3048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224468" y="6134100"/>
            <a:ext cx="200025" cy="3048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763375" y="6134100"/>
            <a:ext cx="200025" cy="3048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1618833" y="2266950"/>
            <a:ext cx="895433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4500" b="1" spc="-90" kern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Advanced Type Systems</a:t>
            </a:r>
            <a:endParaRPr lang="en-US" sz="4500" dirty="0"/>
          </a:p>
        </p:txBody>
      </p:sp>
      <p:sp>
        <p:nvSpPr>
          <p:cNvPr id="16" name="Text 1"/>
          <p:cNvSpPr/>
          <p:nvPr/>
        </p:nvSpPr>
        <p:spPr>
          <a:xfrm>
            <a:off x="2365028" y="3333750"/>
            <a:ext cx="74619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Lecture 2</a:t>
            </a:r>
            <a:endParaRPr lang="en-US" sz="2250" dirty="0"/>
          </a:p>
        </p:txBody>
      </p:sp>
      <p:sp>
        <p:nvSpPr>
          <p:cNvPr id="17" name="Text 2"/>
          <p:cNvSpPr/>
          <p:nvPr/>
        </p:nvSpPr>
        <p:spPr>
          <a:xfrm>
            <a:off x="2292325" y="4362450"/>
            <a:ext cx="760720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Programming Languages 3 (PL3)</a:t>
            </a:r>
            <a:endParaRPr lang="en-US" sz="2700" dirty="0"/>
          </a:p>
        </p:txBody>
      </p:sp>
      <p:sp>
        <p:nvSpPr>
          <p:cNvPr id="18" name="Text 3"/>
          <p:cNvSpPr/>
          <p:nvPr/>
        </p:nvSpPr>
        <p:spPr>
          <a:xfrm>
            <a:off x="4672072" y="4972050"/>
            <a:ext cx="16762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Computer Science</a:t>
            </a:r>
            <a:endParaRPr lang="en-US" sz="1200" dirty="0"/>
          </a:p>
        </p:txBody>
      </p:sp>
      <p:sp>
        <p:nvSpPr>
          <p:cNvPr id="19" name="Text 4"/>
          <p:cNvSpPr/>
          <p:nvPr/>
        </p:nvSpPr>
        <p:spPr>
          <a:xfrm>
            <a:off x="6634445" y="4972050"/>
            <a:ext cx="10628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2025-09-25</a:t>
            </a:r>
            <a:endParaRPr lang="en-US" sz="1200" dirty="0"/>
          </a:p>
        </p:txBody>
      </p:sp>
      <p:sp>
        <p:nvSpPr>
          <p:cNvPr id="20" name="Text 5"/>
          <p:cNvSpPr/>
          <p:nvPr/>
        </p:nvSpPr>
        <p:spPr>
          <a:xfrm>
            <a:off x="10085636" y="6477000"/>
            <a:ext cx="3014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Rust</a:t>
            </a:r>
            <a:endParaRPr lang="en-US" sz="900" dirty="0"/>
          </a:p>
        </p:txBody>
      </p:sp>
      <p:sp>
        <p:nvSpPr>
          <p:cNvPr id="21" name="Text 6"/>
          <p:cNvSpPr/>
          <p:nvPr/>
        </p:nvSpPr>
        <p:spPr>
          <a:xfrm>
            <a:off x="10489257" y="6477000"/>
            <a:ext cx="4755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Python</a:t>
            </a:r>
            <a:endParaRPr lang="en-US" sz="900" dirty="0"/>
          </a:p>
        </p:txBody>
      </p:sp>
      <p:sp>
        <p:nvSpPr>
          <p:cNvPr id="22" name="Text 7"/>
          <p:cNvSpPr/>
          <p:nvPr/>
        </p:nvSpPr>
        <p:spPr>
          <a:xfrm>
            <a:off x="11037987" y="6477000"/>
            <a:ext cx="6875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23" name="Text 8"/>
          <p:cNvSpPr/>
          <p:nvPr/>
        </p:nvSpPr>
        <p:spPr>
          <a:xfrm>
            <a:off x="11784062" y="6477000"/>
            <a:ext cx="1902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525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524000"/>
            <a:ext cx="446336" cy="4572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993" y="160020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400300"/>
            <a:ext cx="457200" cy="4572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476500"/>
            <a:ext cx="228600" cy="3048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162300"/>
            <a:ext cx="457200" cy="4572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3238500"/>
            <a:ext cx="228600" cy="3048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3924300"/>
            <a:ext cx="457200" cy="4572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5788" y="4000500"/>
            <a:ext cx="200025" cy="3048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1409700"/>
            <a:ext cx="457200" cy="4572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15100" y="1485900"/>
            <a:ext cx="228600" cy="3048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2171700"/>
            <a:ext cx="457200" cy="4572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00813" y="2247900"/>
            <a:ext cx="257175" cy="3048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2933700"/>
            <a:ext cx="457200" cy="4572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15100" y="3009900"/>
            <a:ext cx="228600" cy="3048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00800" y="3695700"/>
            <a:ext cx="457200" cy="4572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15100" y="3771900"/>
            <a:ext cx="228600" cy="3048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982646" y="6134100"/>
            <a:ext cx="228600" cy="3048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511135" y="6134100"/>
            <a:ext cx="200025" cy="3048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186368" y="6134100"/>
            <a:ext cx="200025" cy="3048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763375" y="6134100"/>
            <a:ext cx="200025" cy="3048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spc="-54" kern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Outline</a:t>
            </a:r>
            <a:endParaRPr lang="en-US" sz="2700" dirty="0"/>
          </a:p>
        </p:txBody>
      </p:sp>
      <p:sp>
        <p:nvSpPr>
          <p:cNvPr id="26" name="Text 1"/>
          <p:cNvSpPr/>
          <p:nvPr/>
        </p:nvSpPr>
        <p:spPr>
          <a:xfrm>
            <a:off x="1055936" y="1371600"/>
            <a:ext cx="56823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0A5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is a Type System?</a:t>
            </a:r>
            <a:endParaRPr lang="en-US" sz="1500" dirty="0"/>
          </a:p>
        </p:txBody>
      </p:sp>
      <p:sp>
        <p:nvSpPr>
          <p:cNvPr id="27" name="Text 2"/>
          <p:cNvSpPr/>
          <p:nvPr/>
        </p:nvSpPr>
        <p:spPr>
          <a:xfrm>
            <a:off x="1055936" y="1676400"/>
            <a:ext cx="473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Rules that assign types to variables, expressions, and functions</a:t>
            </a:r>
            <a:endParaRPr lang="en-US" sz="1200" dirty="0"/>
          </a:p>
        </p:txBody>
      </p:sp>
      <p:sp>
        <p:nvSpPr>
          <p:cNvPr id="28" name="Text 3"/>
          <p:cNvSpPr/>
          <p:nvPr/>
        </p:nvSpPr>
        <p:spPr>
          <a:xfrm>
            <a:off x="1066800" y="2362200"/>
            <a:ext cx="36100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DE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Static vs Dynamic Typing</a:t>
            </a:r>
            <a:endParaRPr lang="en-US" sz="1500" dirty="0"/>
          </a:p>
        </p:txBody>
      </p:sp>
      <p:sp>
        <p:nvSpPr>
          <p:cNvPr id="29" name="Text 4"/>
          <p:cNvSpPr/>
          <p:nvPr/>
        </p:nvSpPr>
        <p:spPr>
          <a:xfrm>
            <a:off x="1066800" y="2667000"/>
            <a:ext cx="36100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Compile-time vs runtime type checking</a:t>
            </a:r>
            <a:endParaRPr lang="en-US" sz="1200" dirty="0"/>
          </a:p>
        </p:txBody>
      </p:sp>
      <p:sp>
        <p:nvSpPr>
          <p:cNvPr id="30" name="Text 5"/>
          <p:cNvSpPr/>
          <p:nvPr/>
        </p:nvSpPr>
        <p:spPr>
          <a:xfrm>
            <a:off x="1066800" y="3124200"/>
            <a:ext cx="29510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Strong vs Weak Typing</a:t>
            </a:r>
            <a:endParaRPr lang="en-US" sz="1500" dirty="0"/>
          </a:p>
        </p:txBody>
      </p:sp>
      <p:sp>
        <p:nvSpPr>
          <p:cNvPr id="31" name="Text 6"/>
          <p:cNvSpPr/>
          <p:nvPr/>
        </p:nvSpPr>
        <p:spPr>
          <a:xfrm>
            <a:off x="1066800" y="3429000"/>
            <a:ext cx="29510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Implicit vs explicit type coercion</a:t>
            </a:r>
            <a:endParaRPr lang="en-US" sz="1200" dirty="0"/>
          </a:p>
        </p:txBody>
      </p:sp>
      <p:sp>
        <p:nvSpPr>
          <p:cNvPr id="32" name="Text 7"/>
          <p:cNvSpPr/>
          <p:nvPr/>
        </p:nvSpPr>
        <p:spPr>
          <a:xfrm>
            <a:off x="1066800" y="3886200"/>
            <a:ext cx="36250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084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Polymorphism</a:t>
            </a:r>
            <a:endParaRPr lang="en-US" sz="1500" dirty="0"/>
          </a:p>
        </p:txBody>
      </p:sp>
      <p:sp>
        <p:nvSpPr>
          <p:cNvPr id="33" name="Text 8"/>
          <p:cNvSpPr/>
          <p:nvPr/>
        </p:nvSpPr>
        <p:spPr>
          <a:xfrm>
            <a:off x="1066800" y="4191000"/>
            <a:ext cx="4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Parametric, ad-hoc, and subtype polymorphism</a:t>
            </a:r>
            <a:endParaRPr lang="en-US" sz="1200" dirty="0"/>
          </a:p>
        </p:txBody>
      </p:sp>
      <p:sp>
        <p:nvSpPr>
          <p:cNvPr id="34" name="Text 9"/>
          <p:cNvSpPr/>
          <p:nvPr/>
        </p:nvSpPr>
        <p:spPr>
          <a:xfrm>
            <a:off x="7010400" y="1371600"/>
            <a:ext cx="42332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B923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Type Inference</a:t>
            </a:r>
            <a:endParaRPr lang="en-US" sz="1500" dirty="0"/>
          </a:p>
        </p:txBody>
      </p:sp>
      <p:sp>
        <p:nvSpPr>
          <p:cNvPr id="35" name="Text 10"/>
          <p:cNvSpPr/>
          <p:nvPr/>
        </p:nvSpPr>
        <p:spPr>
          <a:xfrm>
            <a:off x="7010400" y="1676400"/>
            <a:ext cx="50799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Hindley-Milner algorithm and automatic type deduction</a:t>
            </a:r>
            <a:endParaRPr lang="en-US" sz="1200" dirty="0"/>
          </a:p>
        </p:txBody>
      </p:sp>
      <p:sp>
        <p:nvSpPr>
          <p:cNvPr id="36" name="Text 11"/>
          <p:cNvSpPr/>
          <p:nvPr/>
        </p:nvSpPr>
        <p:spPr>
          <a:xfrm>
            <a:off x="7010400" y="2133600"/>
            <a:ext cx="36951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717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Dependent Types</a:t>
            </a:r>
            <a:endParaRPr lang="en-US" sz="1500" dirty="0"/>
          </a:p>
        </p:txBody>
      </p:sp>
      <p:sp>
        <p:nvSpPr>
          <p:cNvPr id="37" name="Text 12"/>
          <p:cNvSpPr/>
          <p:nvPr/>
        </p:nvSpPr>
        <p:spPr>
          <a:xfrm>
            <a:off x="7010400" y="2438400"/>
            <a:ext cx="3695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Types that depend on values (Idris, Coq)</a:t>
            </a:r>
            <a:endParaRPr lang="en-US" sz="1200" dirty="0"/>
          </a:p>
        </p:txBody>
      </p:sp>
      <p:sp>
        <p:nvSpPr>
          <p:cNvPr id="38" name="Text 13"/>
          <p:cNvSpPr/>
          <p:nvPr/>
        </p:nvSpPr>
        <p:spPr>
          <a:xfrm>
            <a:off x="7010400" y="2895600"/>
            <a:ext cx="33625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18CF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Case Study: Rust</a:t>
            </a:r>
            <a:endParaRPr lang="en-US" sz="1500" dirty="0"/>
          </a:p>
        </p:txBody>
      </p:sp>
      <p:sp>
        <p:nvSpPr>
          <p:cNvPr id="39" name="Text 14"/>
          <p:cNvSpPr/>
          <p:nvPr/>
        </p:nvSpPr>
        <p:spPr>
          <a:xfrm>
            <a:off x="7010400" y="3200400"/>
            <a:ext cx="3362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Strong typing and ownership system</a:t>
            </a:r>
            <a:endParaRPr lang="en-US" sz="1200" dirty="0"/>
          </a:p>
        </p:txBody>
      </p:sp>
      <p:sp>
        <p:nvSpPr>
          <p:cNvPr id="40" name="Text 15"/>
          <p:cNvSpPr/>
          <p:nvPr/>
        </p:nvSpPr>
        <p:spPr>
          <a:xfrm>
            <a:off x="7010400" y="3657600"/>
            <a:ext cx="30316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DD4B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Exercises</a:t>
            </a:r>
            <a:endParaRPr lang="en-US" sz="1500" dirty="0"/>
          </a:p>
        </p:txBody>
      </p:sp>
      <p:sp>
        <p:nvSpPr>
          <p:cNvPr id="41" name="Text 16"/>
          <p:cNvSpPr/>
          <p:nvPr/>
        </p:nvSpPr>
        <p:spPr>
          <a:xfrm>
            <a:off x="7010400" y="3962400"/>
            <a:ext cx="36379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Comparisons and implementation tasks</a:t>
            </a:r>
            <a:endParaRPr lang="en-US" sz="1200" dirty="0"/>
          </a:p>
        </p:txBody>
      </p:sp>
      <p:sp>
        <p:nvSpPr>
          <p:cNvPr id="42" name="Text 17"/>
          <p:cNvSpPr/>
          <p:nvPr/>
        </p:nvSpPr>
        <p:spPr>
          <a:xfrm>
            <a:off x="9971336" y="6477000"/>
            <a:ext cx="3014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Rust</a:t>
            </a:r>
            <a:endParaRPr lang="en-US" sz="900" dirty="0"/>
          </a:p>
        </p:txBody>
      </p:sp>
      <p:sp>
        <p:nvSpPr>
          <p:cNvPr id="43" name="Text 18"/>
          <p:cNvSpPr/>
          <p:nvPr/>
        </p:nvSpPr>
        <p:spPr>
          <a:xfrm>
            <a:off x="10413057" y="6477000"/>
            <a:ext cx="4755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Python</a:t>
            </a:r>
            <a:endParaRPr lang="en-US" sz="900" dirty="0"/>
          </a:p>
        </p:txBody>
      </p:sp>
      <p:sp>
        <p:nvSpPr>
          <p:cNvPr id="44" name="Text 19"/>
          <p:cNvSpPr/>
          <p:nvPr/>
        </p:nvSpPr>
        <p:spPr>
          <a:xfrm>
            <a:off x="10999887" y="6477000"/>
            <a:ext cx="6875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45" name="Text 20"/>
          <p:cNvSpPr/>
          <p:nvPr/>
        </p:nvSpPr>
        <p:spPr>
          <a:xfrm>
            <a:off x="11784062" y="6477000"/>
            <a:ext cx="1902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525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133600"/>
            <a:ext cx="3555950" cy="19812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362200"/>
            <a:ext cx="457200" cy="4572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2438400"/>
            <a:ext cx="228600" cy="3048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7950" y="2133600"/>
            <a:ext cx="3555950" cy="19812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6550" y="2362200"/>
            <a:ext cx="457200" cy="4572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0850" y="2438400"/>
            <a:ext cx="228600" cy="3048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78701" y="2133600"/>
            <a:ext cx="3556099" cy="19812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07301" y="2362200"/>
            <a:ext cx="457200" cy="4572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50176" y="2438400"/>
            <a:ext cx="171450" cy="3048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33600" y="5010150"/>
            <a:ext cx="609600" cy="6096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95525" y="5200650"/>
            <a:ext cx="285750" cy="2286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0" y="4914900"/>
            <a:ext cx="609600" cy="6096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33925" y="5105400"/>
            <a:ext cx="285750" cy="2286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10400" y="5010150"/>
            <a:ext cx="609600" cy="6096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00900" y="5200650"/>
            <a:ext cx="228600" cy="2286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448800" y="5010150"/>
            <a:ext cx="609600" cy="6096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67875" y="5200650"/>
            <a:ext cx="171450" cy="2286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0" y="3295650"/>
            <a:ext cx="190500" cy="2667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00750" y="3295650"/>
            <a:ext cx="190500" cy="2667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001500" y="3295650"/>
            <a:ext cx="190500" cy="2667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972675" y="6122045"/>
            <a:ext cx="247650" cy="507355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410825" y="6122045"/>
            <a:ext cx="400050" cy="507355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001375" y="6122045"/>
            <a:ext cx="571500" cy="507355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763375" y="6122045"/>
            <a:ext cx="200025" cy="507355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spc="-54" kern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is a Type System?</a:t>
            </a:r>
            <a:endParaRPr lang="en-US" sz="2700" dirty="0"/>
          </a:p>
        </p:txBody>
      </p:sp>
      <p:sp>
        <p:nvSpPr>
          <p:cNvPr id="30" name="Text 1"/>
          <p:cNvSpPr/>
          <p:nvPr/>
        </p:nvSpPr>
        <p:spPr>
          <a:xfrm>
            <a:off x="457200" y="1295400"/>
            <a:ext cx="8534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type system is a set of rules that assigns a </a:t>
            </a:r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0A5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type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to various constructs within a programming language, such as variables, expressions, and functions.</a:t>
            </a:r>
            <a:endParaRPr lang="en-US" sz="1500" dirty="0"/>
          </a:p>
        </p:txBody>
      </p:sp>
      <p:sp>
        <p:nvSpPr>
          <p:cNvPr id="31" name="Text 2"/>
          <p:cNvSpPr/>
          <p:nvPr/>
        </p:nvSpPr>
        <p:spPr>
          <a:xfrm>
            <a:off x="1295400" y="2457450"/>
            <a:ext cx="18020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0A5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Assigns Types</a:t>
            </a:r>
            <a:endParaRPr lang="en-US" sz="1500" dirty="0"/>
          </a:p>
        </p:txBody>
      </p:sp>
      <p:sp>
        <p:nvSpPr>
          <p:cNvPr id="32" name="Text 3"/>
          <p:cNvSpPr/>
          <p:nvPr/>
        </p:nvSpPr>
        <p:spPr>
          <a:xfrm>
            <a:off x="685800" y="2971800"/>
            <a:ext cx="3098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Maps language constructs to types, enabling operations to be performed based on those types.</a:t>
            </a:r>
            <a:endParaRPr lang="en-US" sz="1200" dirty="0"/>
          </a:p>
        </p:txBody>
      </p:sp>
      <p:sp>
        <p:nvSpPr>
          <p:cNvPr id="33" name="Text 4"/>
          <p:cNvSpPr/>
          <p:nvPr/>
        </p:nvSpPr>
        <p:spPr>
          <a:xfrm>
            <a:off x="5156150" y="2457450"/>
            <a:ext cx="2014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Prevents Errors</a:t>
            </a:r>
            <a:endParaRPr lang="en-US" sz="1500" dirty="0"/>
          </a:p>
        </p:txBody>
      </p:sp>
      <p:sp>
        <p:nvSpPr>
          <p:cNvPr id="34" name="Text 5"/>
          <p:cNvSpPr/>
          <p:nvPr/>
        </p:nvSpPr>
        <p:spPr>
          <a:xfrm>
            <a:off x="4546550" y="2971800"/>
            <a:ext cx="3098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Catches invalid operations early by ensuring operations are only performed on compatible types.</a:t>
            </a:r>
            <a:endParaRPr lang="en-US" sz="1200" dirty="0"/>
          </a:p>
        </p:txBody>
      </p:sp>
      <p:sp>
        <p:nvSpPr>
          <p:cNvPr id="35" name="Text 6"/>
          <p:cNvSpPr/>
          <p:nvPr/>
        </p:nvSpPr>
        <p:spPr>
          <a:xfrm>
            <a:off x="9016901" y="2457450"/>
            <a:ext cx="28789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B923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Enables Optimizations</a:t>
            </a:r>
            <a:endParaRPr lang="en-US" sz="1500" dirty="0"/>
          </a:p>
        </p:txBody>
      </p:sp>
      <p:sp>
        <p:nvSpPr>
          <p:cNvPr id="36" name="Text 7"/>
          <p:cNvSpPr/>
          <p:nvPr/>
        </p:nvSpPr>
        <p:spPr>
          <a:xfrm>
            <a:off x="8407301" y="2971800"/>
            <a:ext cx="309889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Allows compilers to generate more efficient machine code by making assumptions about memory layout and operations.</a:t>
            </a:r>
            <a:endParaRPr lang="en-US" sz="1200" dirty="0"/>
          </a:p>
        </p:txBody>
      </p:sp>
      <p:sp>
        <p:nvSpPr>
          <p:cNvPr id="37" name="Text 8"/>
          <p:cNvSpPr/>
          <p:nvPr/>
        </p:nvSpPr>
        <p:spPr>
          <a:xfrm>
            <a:off x="457200" y="4495800"/>
            <a:ext cx="11277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a Type System Works</a:t>
            </a:r>
            <a:endParaRPr lang="en-US" sz="1500" dirty="0"/>
          </a:p>
        </p:txBody>
      </p:sp>
      <p:sp>
        <p:nvSpPr>
          <p:cNvPr id="38" name="Text 9"/>
          <p:cNvSpPr/>
          <p:nvPr/>
        </p:nvSpPr>
        <p:spPr>
          <a:xfrm>
            <a:off x="1828800" y="5695950"/>
            <a:ext cx="121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Code</a:t>
            </a:r>
            <a:endParaRPr lang="en-US" sz="1050" dirty="0"/>
          </a:p>
        </p:txBody>
      </p:sp>
      <p:sp>
        <p:nvSpPr>
          <p:cNvPr id="39" name="Text 10"/>
          <p:cNvSpPr/>
          <p:nvPr/>
        </p:nvSpPr>
        <p:spPr>
          <a:xfrm>
            <a:off x="4267200" y="5600700"/>
            <a:ext cx="121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Type System Rules</a:t>
            </a:r>
            <a:endParaRPr lang="en-US" sz="1050" dirty="0"/>
          </a:p>
        </p:txBody>
      </p:sp>
      <p:sp>
        <p:nvSpPr>
          <p:cNvPr id="40" name="Text 11"/>
          <p:cNvSpPr/>
          <p:nvPr/>
        </p:nvSpPr>
        <p:spPr>
          <a:xfrm>
            <a:off x="6583680" y="5695950"/>
            <a:ext cx="14630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Valid/Invalid</a:t>
            </a:r>
            <a:endParaRPr lang="en-US" sz="1050" dirty="0"/>
          </a:p>
        </p:txBody>
      </p:sp>
      <p:sp>
        <p:nvSpPr>
          <p:cNvPr id="41" name="Text 12"/>
          <p:cNvSpPr/>
          <p:nvPr/>
        </p:nvSpPr>
        <p:spPr>
          <a:xfrm>
            <a:off x="9022080" y="5695950"/>
            <a:ext cx="14630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Optimized Code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525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95400"/>
            <a:ext cx="5486400" cy="4160341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524000"/>
            <a:ext cx="457200" cy="4572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1600200"/>
            <a:ext cx="228600" cy="3048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514600"/>
            <a:ext cx="5029200" cy="441871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242221"/>
            <a:ext cx="304800" cy="3048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3318421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3775621"/>
            <a:ext cx="304800" cy="3048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475" y="3851821"/>
            <a:ext cx="171450" cy="1524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4309021"/>
            <a:ext cx="304800" cy="3048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000" y="4385221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8400" y="1295400"/>
            <a:ext cx="5486400" cy="4160341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0" y="1524000"/>
            <a:ext cx="457200" cy="4572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91300" y="1600200"/>
            <a:ext cx="228600" cy="3048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77000" y="2514600"/>
            <a:ext cx="5029200" cy="655141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7000" y="3455491"/>
            <a:ext cx="304800" cy="3048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53200" y="3531691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77000" y="3988891"/>
            <a:ext cx="304800" cy="3048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43675" y="4065091"/>
            <a:ext cx="171450" cy="1524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77000" y="4522291"/>
            <a:ext cx="304800" cy="3048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53200" y="4598491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866900" y="5684341"/>
            <a:ext cx="7620000" cy="5715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982646" y="6134100"/>
            <a:ext cx="228600" cy="3048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511135" y="6134100"/>
            <a:ext cx="200025" cy="30480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186368" y="6134100"/>
            <a:ext cx="200025" cy="30480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763375" y="6134100"/>
            <a:ext cx="200025" cy="304800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spc="-54" kern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Static vs Dynamic Typing</a:t>
            </a:r>
            <a:endParaRPr lang="en-US" sz="2700" dirty="0"/>
          </a:p>
        </p:txBody>
      </p:sp>
      <p:sp>
        <p:nvSpPr>
          <p:cNvPr id="31" name="Text 1"/>
          <p:cNvSpPr/>
          <p:nvPr/>
        </p:nvSpPr>
        <p:spPr>
          <a:xfrm>
            <a:off x="1295400" y="1600200"/>
            <a:ext cx="201257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0A5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Static Typing</a:t>
            </a:r>
            <a:endParaRPr lang="en-US" sz="1800" dirty="0"/>
          </a:p>
        </p:txBody>
      </p:sp>
      <p:sp>
        <p:nvSpPr>
          <p:cNvPr id="32" name="Text 2"/>
          <p:cNvSpPr/>
          <p:nvPr/>
        </p:nvSpPr>
        <p:spPr>
          <a:xfrm>
            <a:off x="685800" y="21336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Type checking occurs at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compile-time</a:t>
            </a:r>
            <a:endParaRPr lang="en-US" sz="1200" dirty="0"/>
          </a:p>
        </p:txBody>
      </p:sp>
      <p:sp>
        <p:nvSpPr>
          <p:cNvPr id="33" name="Text 3"/>
          <p:cNvSpPr/>
          <p:nvPr/>
        </p:nvSpPr>
        <p:spPr>
          <a:xfrm>
            <a:off x="800100" y="2628900"/>
            <a:ext cx="48006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= 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ERROR</a:t>
            </a:r>
            <a:endParaRPr lang="en-US" sz="1200" dirty="0"/>
          </a:p>
        </p:txBody>
      </p:sp>
      <p:sp>
        <p:nvSpPr>
          <p:cNvPr id="34" name="Text 4"/>
          <p:cNvSpPr/>
          <p:nvPr/>
        </p:nvSpPr>
        <p:spPr>
          <a:xfrm>
            <a:off x="1104900" y="3185071"/>
            <a:ext cx="21706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Early Error Detection</a:t>
            </a:r>
            <a:endParaRPr lang="en-US" sz="1200" dirty="0"/>
          </a:p>
        </p:txBody>
      </p:sp>
      <p:sp>
        <p:nvSpPr>
          <p:cNvPr id="35" name="Text 5"/>
          <p:cNvSpPr/>
          <p:nvPr/>
        </p:nvSpPr>
        <p:spPr>
          <a:xfrm>
            <a:off x="1104900" y="3413671"/>
            <a:ext cx="21706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Compiler catches errors</a:t>
            </a:r>
            <a:endParaRPr lang="en-US" sz="1050" dirty="0"/>
          </a:p>
        </p:txBody>
      </p:sp>
      <p:sp>
        <p:nvSpPr>
          <p:cNvPr id="36" name="Text 6"/>
          <p:cNvSpPr/>
          <p:nvPr/>
        </p:nvSpPr>
        <p:spPr>
          <a:xfrm>
            <a:off x="1104900" y="3718471"/>
            <a:ext cx="1320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37" name="Text 7"/>
          <p:cNvSpPr/>
          <p:nvPr/>
        </p:nvSpPr>
        <p:spPr>
          <a:xfrm>
            <a:off x="1104900" y="3947071"/>
            <a:ext cx="13203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Faster execution</a:t>
            </a:r>
            <a:endParaRPr lang="en-US" sz="1050" dirty="0"/>
          </a:p>
        </p:txBody>
      </p:sp>
      <p:sp>
        <p:nvSpPr>
          <p:cNvPr id="38" name="Text 8"/>
          <p:cNvSpPr/>
          <p:nvPr/>
        </p:nvSpPr>
        <p:spPr>
          <a:xfrm>
            <a:off x="1104900" y="4251871"/>
            <a:ext cx="1239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Safety</a:t>
            </a:r>
            <a:endParaRPr lang="en-US" sz="1200" dirty="0"/>
          </a:p>
        </p:txBody>
      </p:sp>
      <p:sp>
        <p:nvSpPr>
          <p:cNvPr id="39" name="Text 9"/>
          <p:cNvSpPr/>
          <p:nvPr/>
        </p:nvSpPr>
        <p:spPr>
          <a:xfrm>
            <a:off x="1104900" y="4480471"/>
            <a:ext cx="14876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Strong guarantees</a:t>
            </a:r>
            <a:endParaRPr lang="en-US" sz="1050" dirty="0"/>
          </a:p>
        </p:txBody>
      </p:sp>
      <p:sp>
        <p:nvSpPr>
          <p:cNvPr id="40" name="Text 10"/>
          <p:cNvSpPr/>
          <p:nvPr/>
        </p:nvSpPr>
        <p:spPr>
          <a:xfrm>
            <a:off x="685800" y="4823371"/>
            <a:ext cx="502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Examples: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Rust, Java, C++</a:t>
            </a:r>
            <a:endParaRPr lang="en-US" sz="1050" dirty="0"/>
          </a:p>
        </p:txBody>
      </p:sp>
      <p:sp>
        <p:nvSpPr>
          <p:cNvPr id="41" name="Text 11"/>
          <p:cNvSpPr/>
          <p:nvPr/>
        </p:nvSpPr>
        <p:spPr>
          <a:xfrm>
            <a:off x="7086600" y="1600200"/>
            <a:ext cx="24404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B923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Dynamic Typing</a:t>
            </a:r>
            <a:endParaRPr lang="en-US" sz="1800" dirty="0"/>
          </a:p>
        </p:txBody>
      </p:sp>
      <p:sp>
        <p:nvSpPr>
          <p:cNvPr id="42" name="Text 12"/>
          <p:cNvSpPr/>
          <p:nvPr/>
        </p:nvSpPr>
        <p:spPr>
          <a:xfrm>
            <a:off x="6477000" y="2133600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Type checking occurs at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DBA7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runtime</a:t>
            </a:r>
            <a:endParaRPr lang="en-US" sz="1200" dirty="0"/>
          </a:p>
        </p:txBody>
      </p:sp>
      <p:sp>
        <p:nvSpPr>
          <p:cNvPr id="43" name="Text 13"/>
          <p:cNvSpPr/>
          <p:nvPr/>
        </p:nvSpPr>
        <p:spPr>
          <a:xfrm>
            <a:off x="6591300" y="2628900"/>
            <a:ext cx="48006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</a:t>
            </a:r>
            <a:endParaRPr lang="en-US" sz="1200" dirty="0"/>
          </a:p>
        </p:txBody>
      </p:sp>
      <p:sp>
        <p:nvSpPr>
          <p:cNvPr id="44" name="Text 14"/>
          <p:cNvSpPr/>
          <p:nvPr/>
        </p:nvSpPr>
        <p:spPr>
          <a:xfrm>
            <a:off x="6591300" y="2842171"/>
            <a:ext cx="48006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valid</a:t>
            </a:r>
            <a:endParaRPr lang="en-US" sz="1200" dirty="0"/>
          </a:p>
        </p:txBody>
      </p:sp>
      <p:sp>
        <p:nvSpPr>
          <p:cNvPr id="45" name="Text 15"/>
          <p:cNvSpPr/>
          <p:nvPr/>
        </p:nvSpPr>
        <p:spPr>
          <a:xfrm>
            <a:off x="6896100" y="3398341"/>
            <a:ext cx="24856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Late Error Detection</a:t>
            </a:r>
            <a:endParaRPr lang="en-US" sz="1200" dirty="0"/>
          </a:p>
        </p:txBody>
      </p:sp>
      <p:sp>
        <p:nvSpPr>
          <p:cNvPr id="46" name="Text 16"/>
          <p:cNvSpPr/>
          <p:nvPr/>
        </p:nvSpPr>
        <p:spPr>
          <a:xfrm>
            <a:off x="6896100" y="3626941"/>
            <a:ext cx="24856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Errors appear during execution</a:t>
            </a:r>
            <a:endParaRPr lang="en-US" sz="1050" dirty="0"/>
          </a:p>
        </p:txBody>
      </p:sp>
      <p:sp>
        <p:nvSpPr>
          <p:cNvPr id="47" name="Text 17"/>
          <p:cNvSpPr/>
          <p:nvPr/>
        </p:nvSpPr>
        <p:spPr>
          <a:xfrm>
            <a:off x="6896100" y="3931741"/>
            <a:ext cx="15055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48" name="Text 18"/>
          <p:cNvSpPr/>
          <p:nvPr/>
        </p:nvSpPr>
        <p:spPr>
          <a:xfrm>
            <a:off x="6896100" y="4160341"/>
            <a:ext cx="15055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Potential overhead</a:t>
            </a:r>
            <a:endParaRPr lang="en-US" sz="1050" dirty="0"/>
          </a:p>
        </p:txBody>
      </p:sp>
      <p:sp>
        <p:nvSpPr>
          <p:cNvPr id="49" name="Text 19"/>
          <p:cNvSpPr/>
          <p:nvPr/>
        </p:nvSpPr>
        <p:spPr>
          <a:xfrm>
            <a:off x="6896100" y="4465141"/>
            <a:ext cx="14299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Safety</a:t>
            </a:r>
            <a:endParaRPr lang="en-US" sz="1200" dirty="0"/>
          </a:p>
        </p:txBody>
      </p:sp>
      <p:sp>
        <p:nvSpPr>
          <p:cNvPr id="50" name="Text 20"/>
          <p:cNvSpPr/>
          <p:nvPr/>
        </p:nvSpPr>
        <p:spPr>
          <a:xfrm>
            <a:off x="6896100" y="4693741"/>
            <a:ext cx="17159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Flexibility over safety</a:t>
            </a:r>
            <a:endParaRPr lang="en-US" sz="1050" dirty="0"/>
          </a:p>
        </p:txBody>
      </p:sp>
      <p:sp>
        <p:nvSpPr>
          <p:cNvPr id="51" name="Text 21"/>
          <p:cNvSpPr/>
          <p:nvPr/>
        </p:nvSpPr>
        <p:spPr>
          <a:xfrm>
            <a:off x="6477000" y="5036641"/>
            <a:ext cx="60350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Examples: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Python, JavaScript, Ruby</a:t>
            </a:r>
            <a:endParaRPr lang="en-US" sz="1050" dirty="0"/>
          </a:p>
        </p:txBody>
      </p:sp>
      <p:sp>
        <p:nvSpPr>
          <p:cNvPr id="52" name="Text 22"/>
          <p:cNvSpPr/>
          <p:nvPr/>
        </p:nvSpPr>
        <p:spPr>
          <a:xfrm>
            <a:off x="9971336" y="6477000"/>
            <a:ext cx="3014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Rust</a:t>
            </a:r>
            <a:endParaRPr lang="en-US" sz="900" dirty="0"/>
          </a:p>
        </p:txBody>
      </p:sp>
      <p:sp>
        <p:nvSpPr>
          <p:cNvPr id="53" name="Text 23"/>
          <p:cNvSpPr/>
          <p:nvPr/>
        </p:nvSpPr>
        <p:spPr>
          <a:xfrm>
            <a:off x="10413057" y="6477000"/>
            <a:ext cx="4755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Python</a:t>
            </a:r>
            <a:endParaRPr lang="en-US" sz="900" dirty="0"/>
          </a:p>
        </p:txBody>
      </p:sp>
      <p:sp>
        <p:nvSpPr>
          <p:cNvPr id="54" name="Text 24"/>
          <p:cNvSpPr/>
          <p:nvPr/>
        </p:nvSpPr>
        <p:spPr>
          <a:xfrm>
            <a:off x="10999887" y="6477000"/>
            <a:ext cx="6875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55" name="Text 25"/>
          <p:cNvSpPr/>
          <p:nvPr/>
        </p:nvSpPr>
        <p:spPr>
          <a:xfrm>
            <a:off x="11784062" y="6477000"/>
            <a:ext cx="1902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525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95400"/>
            <a:ext cx="5486400" cy="2476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524000"/>
            <a:ext cx="381000" cy="3810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050" y="1581150"/>
            <a:ext cx="190500" cy="2667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0955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4384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27813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53914" y="3200400"/>
            <a:ext cx="521643" cy="2667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89857" y="3200400"/>
            <a:ext cx="510332" cy="2667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14489" y="3200400"/>
            <a:ext cx="690860" cy="2667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8400" y="1295400"/>
            <a:ext cx="5486400" cy="24765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1524000"/>
            <a:ext cx="381000" cy="3810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72250" y="1581150"/>
            <a:ext cx="190500" cy="2667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0" y="20955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77000" y="24384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7000" y="27813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45114" y="3200400"/>
            <a:ext cx="897136" cy="2667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56550" y="3200400"/>
            <a:ext cx="489793" cy="2667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960644" y="3200400"/>
            <a:ext cx="321766" cy="2667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7200" y="4114800"/>
            <a:ext cx="171450" cy="1905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57200" y="4457700"/>
            <a:ext cx="5486400" cy="14097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356717" y="5505450"/>
            <a:ext cx="133350" cy="1524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263628" y="5505450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248400" y="4457700"/>
            <a:ext cx="5486400" cy="140970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162800" y="5505450"/>
            <a:ext cx="133350" cy="15240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054828" y="5505450"/>
            <a:ext cx="152400" cy="152400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548342" y="6134100"/>
            <a:ext cx="200025" cy="304800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1223427" y="6134100"/>
            <a:ext cx="200025" cy="304800"/>
          </a:xfrm>
          <a:prstGeom prst="rect">
            <a:avLst/>
          </a:prstGeom>
        </p:spPr>
      </p:pic>
      <p:pic>
        <p:nvPicPr>
          <p:cNvPr id="3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1723489" y="6134100"/>
            <a:ext cx="228600" cy="304800"/>
          </a:xfrm>
          <a:prstGeom prst="rect">
            <a:avLst/>
          </a:prstGeom>
        </p:spPr>
      </p:pic>
      <p:sp>
        <p:nvSpPr>
          <p:cNvPr id="33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spc="-54" kern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Strong vs Weak Typing</a:t>
            </a:r>
            <a:endParaRPr lang="en-US" sz="2700" dirty="0"/>
          </a:p>
        </p:txBody>
      </p:sp>
      <p:sp>
        <p:nvSpPr>
          <p:cNvPr id="34" name="Text 1"/>
          <p:cNvSpPr/>
          <p:nvPr/>
        </p:nvSpPr>
        <p:spPr>
          <a:xfrm>
            <a:off x="1181100" y="1562100"/>
            <a:ext cx="21550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0A5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Strong Typing</a:t>
            </a:r>
            <a:endParaRPr lang="en-US" sz="1800" dirty="0"/>
          </a:p>
        </p:txBody>
      </p:sp>
      <p:sp>
        <p:nvSpPr>
          <p:cNvPr id="35" name="Text 2"/>
          <p:cNvSpPr/>
          <p:nvPr/>
        </p:nvSpPr>
        <p:spPr>
          <a:xfrm>
            <a:off x="914400" y="2057400"/>
            <a:ext cx="34231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Does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not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allow implicit type coercion</a:t>
            </a:r>
            <a:endParaRPr lang="en-US" sz="1200" dirty="0"/>
          </a:p>
        </p:txBody>
      </p:sp>
      <p:sp>
        <p:nvSpPr>
          <p:cNvPr id="36" name="Text 3"/>
          <p:cNvSpPr/>
          <p:nvPr/>
        </p:nvSpPr>
        <p:spPr>
          <a:xfrm>
            <a:off x="914400" y="2400300"/>
            <a:ext cx="40721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Requires explicit conversions between types</a:t>
            </a:r>
            <a:endParaRPr lang="en-US" sz="1200" dirty="0"/>
          </a:p>
        </p:txBody>
      </p:sp>
      <p:sp>
        <p:nvSpPr>
          <p:cNvPr id="37" name="Text 4"/>
          <p:cNvSpPr/>
          <p:nvPr/>
        </p:nvSpPr>
        <p:spPr>
          <a:xfrm>
            <a:off x="914400" y="2743200"/>
            <a:ext cx="28583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Prevents accidental type errors</a:t>
            </a:r>
            <a:endParaRPr lang="en-US" sz="1200" dirty="0"/>
          </a:p>
        </p:txBody>
      </p:sp>
      <p:sp>
        <p:nvSpPr>
          <p:cNvPr id="38" name="Text 5"/>
          <p:cNvSpPr/>
          <p:nvPr/>
        </p:nvSpPr>
        <p:spPr>
          <a:xfrm>
            <a:off x="685800" y="3219450"/>
            <a:ext cx="9502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Examples:</a:t>
            </a:r>
            <a:endParaRPr lang="en-US" sz="1200" dirty="0"/>
          </a:p>
        </p:txBody>
      </p:sp>
      <p:sp>
        <p:nvSpPr>
          <p:cNvPr id="39" name="Text 6"/>
          <p:cNvSpPr/>
          <p:nvPr/>
        </p:nvSpPr>
        <p:spPr>
          <a:xfrm>
            <a:off x="1668214" y="3200400"/>
            <a:ext cx="6259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FDB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Rust</a:t>
            </a:r>
            <a:endParaRPr lang="en-US" sz="1050" dirty="0"/>
          </a:p>
        </p:txBody>
      </p:sp>
      <p:sp>
        <p:nvSpPr>
          <p:cNvPr id="40" name="Text 7"/>
          <p:cNvSpPr/>
          <p:nvPr/>
        </p:nvSpPr>
        <p:spPr>
          <a:xfrm>
            <a:off x="2304157" y="3200400"/>
            <a:ext cx="61239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FDB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Java</a:t>
            </a:r>
            <a:endParaRPr lang="en-US" sz="1050" dirty="0"/>
          </a:p>
        </p:txBody>
      </p:sp>
      <p:sp>
        <p:nvSpPr>
          <p:cNvPr id="41" name="Text 8"/>
          <p:cNvSpPr/>
          <p:nvPr/>
        </p:nvSpPr>
        <p:spPr>
          <a:xfrm>
            <a:off x="2928789" y="3200400"/>
            <a:ext cx="8290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FDB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Python</a:t>
            </a:r>
            <a:endParaRPr lang="en-US" sz="1050" dirty="0"/>
          </a:p>
        </p:txBody>
      </p:sp>
      <p:sp>
        <p:nvSpPr>
          <p:cNvPr id="42" name="Text 9"/>
          <p:cNvSpPr/>
          <p:nvPr/>
        </p:nvSpPr>
        <p:spPr>
          <a:xfrm>
            <a:off x="6972300" y="1562100"/>
            <a:ext cx="19573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B923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Weak Typing</a:t>
            </a:r>
            <a:endParaRPr lang="en-US" sz="1800" dirty="0"/>
          </a:p>
        </p:txBody>
      </p:sp>
      <p:sp>
        <p:nvSpPr>
          <p:cNvPr id="43" name="Text 10"/>
          <p:cNvSpPr/>
          <p:nvPr/>
        </p:nvSpPr>
        <p:spPr>
          <a:xfrm>
            <a:off x="6705600" y="2057400"/>
            <a:ext cx="26113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Allows implicit type coercion</a:t>
            </a:r>
            <a:endParaRPr lang="en-US" sz="1200" dirty="0"/>
          </a:p>
        </p:txBody>
      </p:sp>
      <p:sp>
        <p:nvSpPr>
          <p:cNvPr id="44" name="Text 11"/>
          <p:cNvSpPr/>
          <p:nvPr/>
        </p:nvSpPr>
        <p:spPr>
          <a:xfrm>
            <a:off x="6705600" y="2400300"/>
            <a:ext cx="35200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Automatically converts between types</a:t>
            </a:r>
            <a:endParaRPr lang="en-US" sz="1200" dirty="0"/>
          </a:p>
        </p:txBody>
      </p:sp>
      <p:sp>
        <p:nvSpPr>
          <p:cNvPr id="45" name="Text 12"/>
          <p:cNvSpPr/>
          <p:nvPr/>
        </p:nvSpPr>
        <p:spPr>
          <a:xfrm>
            <a:off x="6705600" y="2743200"/>
            <a:ext cx="3384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Offers flexibility but can lead to bugs</a:t>
            </a:r>
            <a:endParaRPr lang="en-US" sz="1200" dirty="0"/>
          </a:p>
        </p:txBody>
      </p:sp>
      <p:sp>
        <p:nvSpPr>
          <p:cNvPr id="46" name="Text 13"/>
          <p:cNvSpPr/>
          <p:nvPr/>
        </p:nvSpPr>
        <p:spPr>
          <a:xfrm>
            <a:off x="6477000" y="3219450"/>
            <a:ext cx="9502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Examples:</a:t>
            </a:r>
            <a:endParaRPr lang="en-US" sz="1200" dirty="0"/>
          </a:p>
        </p:txBody>
      </p:sp>
      <p:sp>
        <p:nvSpPr>
          <p:cNvPr id="47" name="Text 14"/>
          <p:cNvSpPr/>
          <p:nvPr/>
        </p:nvSpPr>
        <p:spPr>
          <a:xfrm>
            <a:off x="7459414" y="3200400"/>
            <a:ext cx="10765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ED7A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JavaScript</a:t>
            </a:r>
            <a:endParaRPr lang="en-US" sz="1050" dirty="0"/>
          </a:p>
        </p:txBody>
      </p:sp>
      <p:sp>
        <p:nvSpPr>
          <p:cNvPr id="48" name="Text 15"/>
          <p:cNvSpPr/>
          <p:nvPr/>
        </p:nvSpPr>
        <p:spPr>
          <a:xfrm>
            <a:off x="8470850" y="3200400"/>
            <a:ext cx="48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ED7A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PHP</a:t>
            </a:r>
            <a:endParaRPr lang="en-US" sz="1050" dirty="0"/>
          </a:p>
        </p:txBody>
      </p:sp>
      <p:sp>
        <p:nvSpPr>
          <p:cNvPr id="49" name="Text 16"/>
          <p:cNvSpPr/>
          <p:nvPr/>
        </p:nvSpPr>
        <p:spPr>
          <a:xfrm>
            <a:off x="9074944" y="3200400"/>
            <a:ext cx="3217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ED7A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</a:t>
            </a:r>
            <a:endParaRPr lang="en-US" sz="1050" dirty="0"/>
          </a:p>
        </p:txBody>
      </p:sp>
      <p:sp>
        <p:nvSpPr>
          <p:cNvPr id="50" name="Text 17"/>
          <p:cNvSpPr/>
          <p:nvPr/>
        </p:nvSpPr>
        <p:spPr>
          <a:xfrm>
            <a:off x="704850" y="4076700"/>
            <a:ext cx="43991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JavaScript Example (Weak Typing)</a:t>
            </a:r>
            <a:endParaRPr lang="en-US" sz="1500" dirty="0"/>
          </a:p>
        </p:txBody>
      </p:sp>
      <p:sp>
        <p:nvSpPr>
          <p:cNvPr id="51" name="Text 18"/>
          <p:cNvSpPr/>
          <p:nvPr/>
        </p:nvSpPr>
        <p:spPr>
          <a:xfrm>
            <a:off x="762000" y="4648200"/>
            <a:ext cx="5105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Subtraction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"5"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</a:t>
            </a:r>
            <a:endParaRPr lang="en-US" sz="1200" dirty="0"/>
          </a:p>
        </p:txBody>
      </p:sp>
      <p:sp>
        <p:nvSpPr>
          <p:cNvPr id="52" name="Text 19"/>
          <p:cNvSpPr/>
          <p:nvPr/>
        </p:nvSpPr>
        <p:spPr>
          <a:xfrm>
            <a:off x="647700" y="5486400"/>
            <a:ext cx="7593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string "5"</a:t>
            </a:r>
            <a:endParaRPr lang="en-US" sz="1050" dirty="0"/>
          </a:p>
        </p:txBody>
      </p:sp>
      <p:sp>
        <p:nvSpPr>
          <p:cNvPr id="53" name="Text 20"/>
          <p:cNvSpPr/>
          <p:nvPr/>
        </p:nvSpPr>
        <p:spPr>
          <a:xfrm>
            <a:off x="1566267" y="5486400"/>
            <a:ext cx="7772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number 5</a:t>
            </a:r>
            <a:endParaRPr lang="en-US" sz="1050" dirty="0"/>
          </a:p>
        </p:txBody>
      </p:sp>
      <p:sp>
        <p:nvSpPr>
          <p:cNvPr id="54" name="Text 21"/>
          <p:cNvSpPr/>
          <p:nvPr/>
        </p:nvSpPr>
        <p:spPr>
          <a:xfrm>
            <a:off x="4492228" y="5486400"/>
            <a:ext cx="151304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Implicit conversion</a:t>
            </a:r>
            <a:endParaRPr lang="en-US" sz="1050" dirty="0"/>
          </a:p>
        </p:txBody>
      </p:sp>
      <p:sp>
        <p:nvSpPr>
          <p:cNvPr id="55" name="Text 22"/>
          <p:cNvSpPr/>
          <p:nvPr/>
        </p:nvSpPr>
        <p:spPr>
          <a:xfrm>
            <a:off x="6553200" y="4648200"/>
            <a:ext cx="5105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Addition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"5"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"52"</a:t>
            </a:r>
            <a:endParaRPr lang="en-US" sz="1200" dirty="0"/>
          </a:p>
        </p:txBody>
      </p:sp>
      <p:sp>
        <p:nvSpPr>
          <p:cNvPr id="56" name="Text 23"/>
          <p:cNvSpPr/>
          <p:nvPr/>
        </p:nvSpPr>
        <p:spPr>
          <a:xfrm>
            <a:off x="6438900" y="5486400"/>
            <a:ext cx="7772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number 2</a:t>
            </a:r>
            <a:endParaRPr lang="en-US" sz="1050" dirty="0"/>
          </a:p>
        </p:txBody>
      </p:sp>
      <p:sp>
        <p:nvSpPr>
          <p:cNvPr id="57" name="Text 24"/>
          <p:cNvSpPr/>
          <p:nvPr/>
        </p:nvSpPr>
        <p:spPr>
          <a:xfrm>
            <a:off x="7372350" y="5486400"/>
            <a:ext cx="7593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string "2"</a:t>
            </a:r>
            <a:endParaRPr lang="en-US" sz="1050" dirty="0"/>
          </a:p>
        </p:txBody>
      </p:sp>
      <p:sp>
        <p:nvSpPr>
          <p:cNvPr id="58" name="Text 25"/>
          <p:cNvSpPr/>
          <p:nvPr/>
        </p:nvSpPr>
        <p:spPr>
          <a:xfrm>
            <a:off x="10283428" y="5486400"/>
            <a:ext cx="151304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Implicit conversion</a:t>
            </a:r>
            <a:endParaRPr lang="en-US" sz="1050" dirty="0"/>
          </a:p>
        </p:txBody>
      </p:sp>
      <p:sp>
        <p:nvSpPr>
          <p:cNvPr id="59" name="Text 26"/>
          <p:cNvSpPr/>
          <p:nvPr/>
        </p:nvSpPr>
        <p:spPr>
          <a:xfrm>
            <a:off x="10361861" y="6477000"/>
            <a:ext cx="6875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60" name="Text 27"/>
          <p:cNvSpPr/>
          <p:nvPr/>
        </p:nvSpPr>
        <p:spPr>
          <a:xfrm>
            <a:off x="11125349" y="6477000"/>
            <a:ext cx="4755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Python</a:t>
            </a:r>
            <a:endParaRPr lang="en-US" sz="900" dirty="0"/>
          </a:p>
        </p:txBody>
      </p:sp>
      <p:sp>
        <p:nvSpPr>
          <p:cNvPr id="61" name="Text 28"/>
          <p:cNvSpPr/>
          <p:nvPr/>
        </p:nvSpPr>
        <p:spPr>
          <a:xfrm>
            <a:off x="11712178" y="6477000"/>
            <a:ext cx="3014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Rust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1247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247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525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23975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552700"/>
            <a:ext cx="5486400" cy="7620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9624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2672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5720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0" y="1295400"/>
            <a:ext cx="5486400" cy="28956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0" y="4419600"/>
            <a:ext cx="5486400" cy="22098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67200" y="5295900"/>
            <a:ext cx="1219200" cy="6096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05450" y="5372100"/>
            <a:ext cx="762000" cy="190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62700" y="5372100"/>
            <a:ext cx="762000" cy="190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67200" y="5295900"/>
            <a:ext cx="1219200" cy="6096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67200" y="5295900"/>
            <a:ext cx="1219200" cy="6096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982646" y="6400800"/>
            <a:ext cx="228600" cy="3048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511135" y="6400800"/>
            <a:ext cx="200025" cy="3048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186368" y="6400800"/>
            <a:ext cx="200025" cy="3048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763375" y="6400800"/>
            <a:ext cx="200025" cy="3048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spc="-54" kern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Polymorphism: Parametric</a:t>
            </a:r>
            <a:endParaRPr lang="en-US" sz="2700" dirty="0"/>
          </a:p>
        </p:txBody>
      </p:sp>
      <p:sp>
        <p:nvSpPr>
          <p:cNvPr id="22" name="Text 1"/>
          <p:cNvSpPr/>
          <p:nvPr/>
        </p:nvSpPr>
        <p:spPr>
          <a:xfrm>
            <a:off x="762000" y="1295400"/>
            <a:ext cx="65836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0A5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Parametric Polymorphism</a:t>
            </a:r>
            <a:endParaRPr lang="en-US" sz="1800" dirty="0"/>
          </a:p>
        </p:txBody>
      </p:sp>
      <p:sp>
        <p:nvSpPr>
          <p:cNvPr id="23" name="Text 2"/>
          <p:cNvSpPr/>
          <p:nvPr/>
        </p:nvSpPr>
        <p:spPr>
          <a:xfrm>
            <a:off x="457200" y="171450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Parametric polymorphism allows functions or data structures to be written generically, operating uniformly on values without depending on their specific type.</a:t>
            </a:r>
            <a:endParaRPr lang="en-US" sz="1200" dirty="0"/>
          </a:p>
        </p:txBody>
      </p:sp>
      <p:sp>
        <p:nvSpPr>
          <p:cNvPr id="24" name="Text 3"/>
          <p:cNvSpPr/>
          <p:nvPr/>
        </p:nvSpPr>
        <p:spPr>
          <a:xfrm>
            <a:off x="609600" y="2705100"/>
            <a:ext cx="518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concept: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Type variables act as placeholders, and the compiler instantiates the generic code with concrete types as needed.</a:t>
            </a:r>
            <a:endParaRPr lang="en-US" sz="1200" dirty="0"/>
          </a:p>
        </p:txBody>
      </p:sp>
      <p:sp>
        <p:nvSpPr>
          <p:cNvPr id="25" name="Text 4"/>
          <p:cNvSpPr/>
          <p:nvPr/>
        </p:nvSpPr>
        <p:spPr>
          <a:xfrm>
            <a:off x="457200" y="3543300"/>
            <a:ext cx="548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DE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Benefits</a:t>
            </a:r>
            <a:endParaRPr lang="en-US" sz="1500" dirty="0"/>
          </a:p>
        </p:txBody>
      </p:sp>
      <p:sp>
        <p:nvSpPr>
          <p:cNvPr id="26" name="Text 5"/>
          <p:cNvSpPr/>
          <p:nvPr/>
        </p:nvSpPr>
        <p:spPr>
          <a:xfrm>
            <a:off x="685800" y="3924300"/>
            <a:ext cx="30748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Code reuse across different types</a:t>
            </a:r>
            <a:endParaRPr lang="en-US" sz="1200" dirty="0"/>
          </a:p>
        </p:txBody>
      </p:sp>
      <p:sp>
        <p:nvSpPr>
          <p:cNvPr id="27" name="Text 6"/>
          <p:cNvSpPr/>
          <p:nvPr/>
        </p:nvSpPr>
        <p:spPr>
          <a:xfrm>
            <a:off x="685800" y="4229100"/>
            <a:ext cx="23161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Compile-time type safety</a:t>
            </a:r>
            <a:endParaRPr lang="en-US" sz="1200" dirty="0"/>
          </a:p>
        </p:txBody>
      </p:sp>
      <p:sp>
        <p:nvSpPr>
          <p:cNvPr id="28" name="Text 7"/>
          <p:cNvSpPr/>
          <p:nvPr/>
        </p:nvSpPr>
        <p:spPr>
          <a:xfrm>
            <a:off x="685800" y="4533900"/>
            <a:ext cx="34581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Performance benefits through inlining</a:t>
            </a:r>
            <a:endParaRPr lang="en-US" sz="1200" dirty="0"/>
          </a:p>
        </p:txBody>
      </p:sp>
      <p:sp>
        <p:nvSpPr>
          <p:cNvPr id="29" name="Text 8"/>
          <p:cNvSpPr/>
          <p:nvPr/>
        </p:nvSpPr>
        <p:spPr>
          <a:xfrm>
            <a:off x="6438900" y="1514475"/>
            <a:ext cx="5488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class</a:t>
            </a:r>
            <a:endParaRPr lang="en-US" sz="1200" dirty="0"/>
          </a:p>
        </p:txBody>
      </p:sp>
      <p:sp>
        <p:nvSpPr>
          <p:cNvPr id="30" name="Text 9"/>
          <p:cNvSpPr/>
          <p:nvPr/>
        </p:nvSpPr>
        <p:spPr>
          <a:xfrm>
            <a:off x="6987778" y="1514475"/>
            <a:ext cx="6584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Box&lt;T&gt;</a:t>
            </a:r>
            <a:endParaRPr lang="en-US" sz="1200" dirty="0"/>
          </a:p>
        </p:txBody>
      </p:sp>
      <p:sp>
        <p:nvSpPr>
          <p:cNvPr id="31" name="Text 10"/>
          <p:cNvSpPr/>
          <p:nvPr/>
        </p:nvSpPr>
        <p:spPr>
          <a:xfrm>
            <a:off x="7536507" y="1514475"/>
            <a:ext cx="128051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{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</a:t>
            </a:r>
            <a:endParaRPr lang="en-US" sz="1200" dirty="0"/>
          </a:p>
        </p:txBody>
      </p:sp>
      <p:sp>
        <p:nvSpPr>
          <p:cNvPr id="32" name="Text 11"/>
          <p:cNvSpPr/>
          <p:nvPr/>
        </p:nvSpPr>
        <p:spPr>
          <a:xfrm>
            <a:off x="6804720" y="1743075"/>
            <a:ext cx="1098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</a:t>
            </a:r>
            <a:endParaRPr lang="en-US" sz="1200" dirty="0"/>
          </a:p>
        </p:txBody>
      </p:sp>
      <p:sp>
        <p:nvSpPr>
          <p:cNvPr id="33" name="Text 12"/>
          <p:cNvSpPr/>
          <p:nvPr/>
        </p:nvSpPr>
        <p:spPr>
          <a:xfrm>
            <a:off x="6896249" y="1743075"/>
            <a:ext cx="1317129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value;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</a:t>
            </a:r>
            <a:endParaRPr lang="en-US" sz="1200" dirty="0"/>
          </a:p>
        </p:txBody>
      </p:sp>
      <p:sp>
        <p:nvSpPr>
          <p:cNvPr id="34" name="Text 13"/>
          <p:cNvSpPr/>
          <p:nvPr/>
        </p:nvSpPr>
        <p:spPr>
          <a:xfrm>
            <a:off x="6804720" y="2200275"/>
            <a:ext cx="3293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Box</a:t>
            </a:r>
            <a:endParaRPr lang="en-US" sz="1200" dirty="0"/>
          </a:p>
        </p:txBody>
      </p:sp>
      <p:sp>
        <p:nvSpPr>
          <p:cNvPr id="35" name="Text 14"/>
          <p:cNvSpPr/>
          <p:nvPr/>
        </p:nvSpPr>
        <p:spPr>
          <a:xfrm>
            <a:off x="7079159" y="2200275"/>
            <a:ext cx="1098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200" dirty="0"/>
          </a:p>
        </p:txBody>
      </p:sp>
      <p:sp>
        <p:nvSpPr>
          <p:cNvPr id="36" name="Text 15"/>
          <p:cNvSpPr/>
          <p:nvPr/>
        </p:nvSpPr>
        <p:spPr>
          <a:xfrm>
            <a:off x="7170688" y="2200275"/>
            <a:ext cx="1098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</a:t>
            </a:r>
            <a:endParaRPr lang="en-US" sz="1200" dirty="0"/>
          </a:p>
        </p:txBody>
      </p:sp>
      <p:sp>
        <p:nvSpPr>
          <p:cNvPr id="37" name="Text 16"/>
          <p:cNvSpPr/>
          <p:nvPr/>
        </p:nvSpPr>
        <p:spPr>
          <a:xfrm>
            <a:off x="7262217" y="2200275"/>
            <a:ext cx="1646188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v) {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value = v;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</a:t>
            </a:r>
            <a:endParaRPr lang="en-US" sz="1200" dirty="0"/>
          </a:p>
        </p:txBody>
      </p:sp>
      <p:sp>
        <p:nvSpPr>
          <p:cNvPr id="38" name="Text 17"/>
          <p:cNvSpPr/>
          <p:nvPr/>
        </p:nvSpPr>
        <p:spPr>
          <a:xfrm>
            <a:off x="6804720" y="3114675"/>
            <a:ext cx="1098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</a:t>
            </a:r>
            <a:endParaRPr lang="en-US" sz="1200" dirty="0"/>
          </a:p>
        </p:txBody>
      </p:sp>
      <p:sp>
        <p:nvSpPr>
          <p:cNvPr id="39" name="Text 18"/>
          <p:cNvSpPr/>
          <p:nvPr/>
        </p:nvSpPr>
        <p:spPr>
          <a:xfrm>
            <a:off x="6896249" y="3114675"/>
            <a:ext cx="19756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getValue() {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</a:t>
            </a:r>
            <a:endParaRPr lang="en-US" sz="1200" dirty="0"/>
          </a:p>
        </p:txBody>
      </p:sp>
      <p:sp>
        <p:nvSpPr>
          <p:cNvPr id="40" name="Text 19"/>
          <p:cNvSpPr/>
          <p:nvPr/>
        </p:nvSpPr>
        <p:spPr>
          <a:xfrm>
            <a:off x="7170539" y="3343275"/>
            <a:ext cx="6584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return</a:t>
            </a:r>
            <a:endParaRPr lang="en-US" sz="1200" dirty="0"/>
          </a:p>
        </p:txBody>
      </p:sp>
      <p:sp>
        <p:nvSpPr>
          <p:cNvPr id="41" name="Text 20"/>
          <p:cNvSpPr/>
          <p:nvPr/>
        </p:nvSpPr>
        <p:spPr>
          <a:xfrm>
            <a:off x="7719268" y="3343275"/>
            <a:ext cx="1920627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value;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1200" dirty="0"/>
          </a:p>
        </p:txBody>
      </p:sp>
      <p:sp>
        <p:nvSpPr>
          <p:cNvPr id="42" name="Text 21"/>
          <p:cNvSpPr/>
          <p:nvPr/>
        </p:nvSpPr>
        <p:spPr>
          <a:xfrm>
            <a:off x="6438900" y="4638675"/>
            <a:ext cx="87796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Usage</a:t>
            </a:r>
            <a:endParaRPr lang="en-US" sz="1200" dirty="0"/>
          </a:p>
        </p:txBody>
      </p:sp>
      <p:sp>
        <p:nvSpPr>
          <p:cNvPr id="43" name="Text 22"/>
          <p:cNvSpPr/>
          <p:nvPr/>
        </p:nvSpPr>
        <p:spPr>
          <a:xfrm>
            <a:off x="6438900" y="4867275"/>
            <a:ext cx="1316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Box&lt;Integer&gt;</a:t>
            </a:r>
            <a:endParaRPr lang="en-US" sz="1200" dirty="0"/>
          </a:p>
        </p:txBody>
      </p:sp>
      <p:sp>
        <p:nvSpPr>
          <p:cNvPr id="44" name="Text 23"/>
          <p:cNvSpPr/>
          <p:nvPr/>
        </p:nvSpPr>
        <p:spPr>
          <a:xfrm>
            <a:off x="7536359" y="4867275"/>
            <a:ext cx="10974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intBox = </a:t>
            </a:r>
            <a:endParaRPr lang="en-US" sz="1200" dirty="0"/>
          </a:p>
        </p:txBody>
      </p:sp>
      <p:sp>
        <p:nvSpPr>
          <p:cNvPr id="45" name="Text 24"/>
          <p:cNvSpPr/>
          <p:nvPr/>
        </p:nvSpPr>
        <p:spPr>
          <a:xfrm>
            <a:off x="8450907" y="4867275"/>
            <a:ext cx="3293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new</a:t>
            </a:r>
            <a:endParaRPr lang="en-US" sz="1200" dirty="0"/>
          </a:p>
        </p:txBody>
      </p:sp>
      <p:sp>
        <p:nvSpPr>
          <p:cNvPr id="46" name="Text 25"/>
          <p:cNvSpPr/>
          <p:nvPr/>
        </p:nvSpPr>
        <p:spPr>
          <a:xfrm>
            <a:off x="8816876" y="4867275"/>
            <a:ext cx="1316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Box&lt;Integer&gt;</a:t>
            </a:r>
            <a:endParaRPr lang="en-US" sz="1200" dirty="0"/>
          </a:p>
        </p:txBody>
      </p:sp>
      <p:sp>
        <p:nvSpPr>
          <p:cNvPr id="47" name="Text 26"/>
          <p:cNvSpPr/>
          <p:nvPr/>
        </p:nvSpPr>
        <p:spPr>
          <a:xfrm>
            <a:off x="9914334" y="4867275"/>
            <a:ext cx="1098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200" dirty="0"/>
          </a:p>
        </p:txBody>
      </p:sp>
      <p:sp>
        <p:nvSpPr>
          <p:cNvPr id="48" name="Text 27"/>
          <p:cNvSpPr/>
          <p:nvPr/>
        </p:nvSpPr>
        <p:spPr>
          <a:xfrm>
            <a:off x="10005864" y="4867275"/>
            <a:ext cx="3293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123</a:t>
            </a:r>
            <a:endParaRPr lang="en-US" sz="1200" dirty="0"/>
          </a:p>
        </p:txBody>
      </p:sp>
      <p:sp>
        <p:nvSpPr>
          <p:cNvPr id="49" name="Text 28"/>
          <p:cNvSpPr/>
          <p:nvPr/>
        </p:nvSpPr>
        <p:spPr>
          <a:xfrm>
            <a:off x="10280303" y="4867275"/>
            <a:ext cx="2194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);
</a:t>
            </a:r>
            <a:endParaRPr lang="en-US" sz="1200" dirty="0"/>
          </a:p>
        </p:txBody>
      </p:sp>
      <p:sp>
        <p:nvSpPr>
          <p:cNvPr id="50" name="Text 29"/>
          <p:cNvSpPr/>
          <p:nvPr/>
        </p:nvSpPr>
        <p:spPr>
          <a:xfrm>
            <a:off x="6438900" y="5095875"/>
            <a:ext cx="12072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Box&lt;String&gt;</a:t>
            </a:r>
            <a:endParaRPr lang="en-US" sz="1200" dirty="0"/>
          </a:p>
        </p:txBody>
      </p:sp>
      <p:sp>
        <p:nvSpPr>
          <p:cNvPr id="51" name="Text 30"/>
          <p:cNvSpPr/>
          <p:nvPr/>
        </p:nvSpPr>
        <p:spPr>
          <a:xfrm>
            <a:off x="7444978" y="5095875"/>
            <a:ext cx="14267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stringBox = </a:t>
            </a:r>
            <a:endParaRPr lang="en-US" sz="1200" dirty="0"/>
          </a:p>
        </p:txBody>
      </p:sp>
      <p:sp>
        <p:nvSpPr>
          <p:cNvPr id="52" name="Text 31"/>
          <p:cNvSpPr/>
          <p:nvPr/>
        </p:nvSpPr>
        <p:spPr>
          <a:xfrm>
            <a:off x="8633966" y="5095875"/>
            <a:ext cx="3293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new</a:t>
            </a:r>
            <a:endParaRPr lang="en-US" sz="1200" dirty="0"/>
          </a:p>
        </p:txBody>
      </p:sp>
      <p:sp>
        <p:nvSpPr>
          <p:cNvPr id="53" name="Text 32"/>
          <p:cNvSpPr/>
          <p:nvPr/>
        </p:nvSpPr>
        <p:spPr>
          <a:xfrm>
            <a:off x="8999934" y="5095875"/>
            <a:ext cx="12072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Box&lt;String&gt;</a:t>
            </a:r>
            <a:endParaRPr lang="en-US" sz="1200" dirty="0"/>
          </a:p>
        </p:txBody>
      </p:sp>
      <p:sp>
        <p:nvSpPr>
          <p:cNvPr id="54" name="Text 33"/>
          <p:cNvSpPr/>
          <p:nvPr/>
        </p:nvSpPr>
        <p:spPr>
          <a:xfrm>
            <a:off x="10006013" y="5095875"/>
            <a:ext cx="1098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200" dirty="0"/>
          </a:p>
        </p:txBody>
      </p:sp>
      <p:sp>
        <p:nvSpPr>
          <p:cNvPr id="55" name="Text 34"/>
          <p:cNvSpPr/>
          <p:nvPr/>
        </p:nvSpPr>
        <p:spPr>
          <a:xfrm>
            <a:off x="10097542" y="5095875"/>
            <a:ext cx="7683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"hello"</a:t>
            </a:r>
            <a:endParaRPr lang="en-US" sz="1200" dirty="0"/>
          </a:p>
        </p:txBody>
      </p:sp>
      <p:sp>
        <p:nvSpPr>
          <p:cNvPr id="56" name="Text 35"/>
          <p:cNvSpPr/>
          <p:nvPr/>
        </p:nvSpPr>
        <p:spPr>
          <a:xfrm>
            <a:off x="10737800" y="5095875"/>
            <a:ext cx="2194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);
</a:t>
            </a:r>
            <a:endParaRPr lang="en-US" sz="1200" dirty="0"/>
          </a:p>
        </p:txBody>
      </p:sp>
      <p:sp>
        <p:nvSpPr>
          <p:cNvPr id="57" name="Text 36"/>
          <p:cNvSpPr/>
          <p:nvPr/>
        </p:nvSpPr>
        <p:spPr>
          <a:xfrm>
            <a:off x="6438900" y="5553075"/>
            <a:ext cx="15364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Output: 123</a:t>
            </a:r>
            <a:endParaRPr lang="en-US" sz="1200" dirty="0"/>
          </a:p>
        </p:txBody>
      </p:sp>
      <p:sp>
        <p:nvSpPr>
          <p:cNvPr id="58" name="Text 37"/>
          <p:cNvSpPr/>
          <p:nvPr/>
        </p:nvSpPr>
        <p:spPr>
          <a:xfrm>
            <a:off x="6438900" y="5781675"/>
            <a:ext cx="6584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System</a:t>
            </a:r>
            <a:endParaRPr lang="en-US" sz="1200" dirty="0"/>
          </a:p>
        </p:txBody>
      </p:sp>
      <p:sp>
        <p:nvSpPr>
          <p:cNvPr id="59" name="Text 38"/>
          <p:cNvSpPr/>
          <p:nvPr/>
        </p:nvSpPr>
        <p:spPr>
          <a:xfrm>
            <a:off x="6987629" y="5781675"/>
            <a:ext cx="351186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.out.println(intBox.getValue());
</a:t>
            </a:r>
            <a:endParaRPr lang="en-US" sz="1200" dirty="0"/>
          </a:p>
        </p:txBody>
      </p:sp>
      <p:sp>
        <p:nvSpPr>
          <p:cNvPr id="60" name="Text 39"/>
          <p:cNvSpPr/>
          <p:nvPr/>
        </p:nvSpPr>
        <p:spPr>
          <a:xfrm>
            <a:off x="6438900" y="6010275"/>
            <a:ext cx="17559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Output: hello</a:t>
            </a:r>
            <a:endParaRPr lang="en-US" sz="1200" dirty="0"/>
          </a:p>
        </p:txBody>
      </p:sp>
      <p:sp>
        <p:nvSpPr>
          <p:cNvPr id="61" name="Text 40"/>
          <p:cNvSpPr/>
          <p:nvPr/>
        </p:nvSpPr>
        <p:spPr>
          <a:xfrm>
            <a:off x="6438900" y="6238875"/>
            <a:ext cx="6584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System</a:t>
            </a:r>
            <a:endParaRPr lang="en-US" sz="1200" dirty="0"/>
          </a:p>
        </p:txBody>
      </p:sp>
      <p:sp>
        <p:nvSpPr>
          <p:cNvPr id="62" name="Text 41"/>
          <p:cNvSpPr/>
          <p:nvPr/>
        </p:nvSpPr>
        <p:spPr>
          <a:xfrm>
            <a:off x="6987629" y="6238875"/>
            <a:ext cx="38411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.out.println(stringBox.getValue());</a:t>
            </a:r>
            <a:endParaRPr lang="en-US" sz="1200" dirty="0"/>
          </a:p>
        </p:txBody>
      </p:sp>
      <p:sp>
        <p:nvSpPr>
          <p:cNvPr id="63" name="Text 42"/>
          <p:cNvSpPr/>
          <p:nvPr/>
        </p:nvSpPr>
        <p:spPr>
          <a:xfrm>
            <a:off x="4602361" y="5486400"/>
            <a:ext cx="658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3C5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Box&lt;T&gt;</a:t>
            </a:r>
            <a:endParaRPr lang="en-US" sz="1200" dirty="0"/>
          </a:p>
        </p:txBody>
      </p:sp>
      <p:sp>
        <p:nvSpPr>
          <p:cNvPr id="64" name="Text 43"/>
          <p:cNvSpPr/>
          <p:nvPr/>
        </p:nvSpPr>
        <p:spPr>
          <a:xfrm>
            <a:off x="4328071" y="5486400"/>
            <a:ext cx="1316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Box&lt;Integer&gt;</a:t>
            </a:r>
            <a:endParaRPr lang="en-US" sz="1200" dirty="0"/>
          </a:p>
        </p:txBody>
      </p:sp>
      <p:sp>
        <p:nvSpPr>
          <p:cNvPr id="65" name="Text 44"/>
          <p:cNvSpPr/>
          <p:nvPr/>
        </p:nvSpPr>
        <p:spPr>
          <a:xfrm>
            <a:off x="4373761" y="5486400"/>
            <a:ext cx="12072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DE04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Box&lt;String&gt;</a:t>
            </a:r>
            <a:endParaRPr lang="en-US" sz="1200" dirty="0"/>
          </a:p>
        </p:txBody>
      </p:sp>
      <p:sp>
        <p:nvSpPr>
          <p:cNvPr id="66" name="Text 45"/>
          <p:cNvSpPr/>
          <p:nvPr/>
        </p:nvSpPr>
        <p:spPr>
          <a:xfrm>
            <a:off x="5389721" y="6229350"/>
            <a:ext cx="11601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0A5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 = Integer</a:t>
            </a:r>
            <a:endParaRPr lang="en-US" sz="1200" dirty="0"/>
          </a:p>
        </p:txBody>
      </p:sp>
      <p:sp>
        <p:nvSpPr>
          <p:cNvPr id="67" name="Text 46"/>
          <p:cNvSpPr/>
          <p:nvPr/>
        </p:nvSpPr>
        <p:spPr>
          <a:xfrm>
            <a:off x="4180656" y="6229350"/>
            <a:ext cx="10385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ACC1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 = String</a:t>
            </a:r>
            <a:endParaRPr lang="en-US" sz="1200" dirty="0"/>
          </a:p>
        </p:txBody>
      </p:sp>
      <p:sp>
        <p:nvSpPr>
          <p:cNvPr id="68" name="Text 47"/>
          <p:cNvSpPr/>
          <p:nvPr/>
        </p:nvSpPr>
        <p:spPr>
          <a:xfrm>
            <a:off x="9971336" y="6743700"/>
            <a:ext cx="3014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Rust</a:t>
            </a:r>
            <a:endParaRPr lang="en-US" sz="900" dirty="0"/>
          </a:p>
        </p:txBody>
      </p:sp>
      <p:sp>
        <p:nvSpPr>
          <p:cNvPr id="69" name="Text 48"/>
          <p:cNvSpPr/>
          <p:nvPr/>
        </p:nvSpPr>
        <p:spPr>
          <a:xfrm>
            <a:off x="10413057" y="6743700"/>
            <a:ext cx="4755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Python</a:t>
            </a:r>
            <a:endParaRPr lang="en-US" sz="900" dirty="0"/>
          </a:p>
        </p:txBody>
      </p:sp>
      <p:sp>
        <p:nvSpPr>
          <p:cNvPr id="70" name="Text 49"/>
          <p:cNvSpPr/>
          <p:nvPr/>
        </p:nvSpPr>
        <p:spPr>
          <a:xfrm>
            <a:off x="10999887" y="6743700"/>
            <a:ext cx="6875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71" name="Text 50"/>
          <p:cNvSpPr/>
          <p:nvPr/>
        </p:nvSpPr>
        <p:spPr>
          <a:xfrm>
            <a:off x="11784062" y="6743700"/>
            <a:ext cx="1902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0104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0565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525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95400"/>
            <a:ext cx="5486400" cy="12573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447800"/>
            <a:ext cx="190500" cy="190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781300"/>
            <a:ext cx="5486400" cy="16383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933700"/>
            <a:ext cx="238125" cy="1905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648200"/>
            <a:ext cx="5486400" cy="19050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5143500"/>
            <a:ext cx="5181600" cy="12573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0" y="1295400"/>
            <a:ext cx="5486400" cy="2819400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spc="-54" kern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Polymorphism: Ad-hoc</a:t>
            </a:r>
            <a:endParaRPr lang="en-US" sz="2700" dirty="0"/>
          </a:p>
        </p:txBody>
      </p:sp>
      <p:sp>
        <p:nvSpPr>
          <p:cNvPr id="13" name="Text 1"/>
          <p:cNvSpPr/>
          <p:nvPr/>
        </p:nvSpPr>
        <p:spPr>
          <a:xfrm>
            <a:off x="838200" y="1409700"/>
            <a:ext cx="6309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is Ad-hoc Polymorphism?</a:t>
            </a:r>
            <a:endParaRPr lang="en-US" sz="1500" dirty="0"/>
          </a:p>
        </p:txBody>
      </p:sp>
      <p:sp>
        <p:nvSpPr>
          <p:cNvPr id="14" name="Text 2"/>
          <p:cNvSpPr/>
          <p:nvPr/>
        </p:nvSpPr>
        <p:spPr>
          <a:xfrm>
            <a:off x="571500" y="175260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Ad-hoc polymorphism allows functions or operators with the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DE04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same name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to exhibit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DE04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different behaviors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based on the types of their arguments.</a:t>
            </a:r>
            <a:endParaRPr lang="en-US" sz="1200" dirty="0"/>
          </a:p>
        </p:txBody>
      </p:sp>
      <p:sp>
        <p:nvSpPr>
          <p:cNvPr id="15" name="Text 3"/>
          <p:cNvSpPr/>
          <p:nvPr/>
        </p:nvSpPr>
        <p:spPr>
          <a:xfrm>
            <a:off x="885825" y="2895600"/>
            <a:ext cx="525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16" name="Text 4"/>
          <p:cNvSpPr/>
          <p:nvPr/>
        </p:nvSpPr>
        <p:spPr>
          <a:xfrm>
            <a:off x="590550" y="3238500"/>
            <a:ext cx="544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compiler selects the appropriate implementation at compile-time</a:t>
            </a:r>
            <a:endParaRPr lang="en-US" sz="1200" dirty="0"/>
          </a:p>
        </p:txBody>
      </p:sp>
      <p:sp>
        <p:nvSpPr>
          <p:cNvPr id="17" name="Text 5"/>
          <p:cNvSpPr/>
          <p:nvPr/>
        </p:nvSpPr>
        <p:spPr>
          <a:xfrm>
            <a:off x="590550" y="3771900"/>
            <a:ext cx="6537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Methods are distinguished by argument types (not return types)</a:t>
            </a:r>
            <a:endParaRPr lang="en-US" sz="1200" dirty="0"/>
          </a:p>
        </p:txBody>
      </p:sp>
      <p:sp>
        <p:nvSpPr>
          <p:cNvPr id="18" name="Text 6"/>
          <p:cNvSpPr/>
          <p:nvPr/>
        </p:nvSpPr>
        <p:spPr>
          <a:xfrm>
            <a:off x="590550" y="4076700"/>
            <a:ext cx="6537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Similar to function overloading in Java/C++</a:t>
            </a:r>
            <a:endParaRPr lang="en-US" sz="1200" dirty="0"/>
          </a:p>
        </p:txBody>
      </p:sp>
      <p:sp>
        <p:nvSpPr>
          <p:cNvPr id="19" name="Text 7"/>
          <p:cNvSpPr/>
          <p:nvPr/>
        </p:nvSpPr>
        <p:spPr>
          <a:xfrm>
            <a:off x="609600" y="4800600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60A5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Usage Example</a:t>
            </a:r>
            <a:endParaRPr lang="en-US" sz="1350" dirty="0"/>
          </a:p>
        </p:txBody>
      </p:sp>
      <p:sp>
        <p:nvSpPr>
          <p:cNvPr id="20" name="Text 8"/>
          <p:cNvSpPr/>
          <p:nvPr/>
        </p:nvSpPr>
        <p:spPr>
          <a:xfrm>
            <a:off x="762000" y="5143500"/>
            <a:ext cx="51816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Calculator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calc =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Calculator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Calls int add method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result1 = calc.add(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Calls double add method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result2 = calc.add(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3.5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</p:txBody>
      </p:sp>
      <p:sp>
        <p:nvSpPr>
          <p:cNvPr id="21" name="Text 9"/>
          <p:cNvSpPr/>
          <p:nvPr/>
        </p:nvSpPr>
        <p:spPr>
          <a:xfrm>
            <a:off x="6400800" y="1476375"/>
            <a:ext cx="338390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class Calculator {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// Overloaded method for integers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</a:t>
            </a:r>
            <a:endParaRPr lang="en-US" sz="1200" dirty="0"/>
          </a:p>
        </p:txBody>
      </p:sp>
      <p:sp>
        <p:nvSpPr>
          <p:cNvPr id="22" name="Text 10"/>
          <p:cNvSpPr/>
          <p:nvPr/>
        </p:nvSpPr>
        <p:spPr>
          <a:xfrm>
            <a:off x="6766620" y="1933575"/>
            <a:ext cx="3293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79C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int</a:t>
            </a:r>
            <a:endParaRPr lang="en-US" sz="1200" dirty="0"/>
          </a:p>
        </p:txBody>
      </p:sp>
      <p:sp>
        <p:nvSpPr>
          <p:cNvPr id="23" name="Text 11"/>
          <p:cNvSpPr/>
          <p:nvPr/>
        </p:nvSpPr>
        <p:spPr>
          <a:xfrm>
            <a:off x="7132588" y="1933575"/>
            <a:ext cx="3293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0FA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add</a:t>
            </a:r>
            <a:endParaRPr lang="en-US" sz="1200" dirty="0"/>
          </a:p>
        </p:txBody>
      </p:sp>
      <p:sp>
        <p:nvSpPr>
          <p:cNvPr id="24" name="Text 12"/>
          <p:cNvSpPr/>
          <p:nvPr/>
        </p:nvSpPr>
        <p:spPr>
          <a:xfrm>
            <a:off x="7407027" y="1933575"/>
            <a:ext cx="1098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200" dirty="0"/>
          </a:p>
        </p:txBody>
      </p:sp>
      <p:sp>
        <p:nvSpPr>
          <p:cNvPr id="25" name="Text 13"/>
          <p:cNvSpPr/>
          <p:nvPr/>
        </p:nvSpPr>
        <p:spPr>
          <a:xfrm>
            <a:off x="7498556" y="1933575"/>
            <a:ext cx="3293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BE9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int</a:t>
            </a:r>
            <a:endParaRPr lang="en-US" sz="1200" dirty="0"/>
          </a:p>
        </p:txBody>
      </p:sp>
      <p:sp>
        <p:nvSpPr>
          <p:cNvPr id="26" name="Text 14"/>
          <p:cNvSpPr/>
          <p:nvPr/>
        </p:nvSpPr>
        <p:spPr>
          <a:xfrm>
            <a:off x="7772995" y="1933575"/>
            <a:ext cx="4389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a, </a:t>
            </a:r>
            <a:endParaRPr lang="en-US" sz="1200" dirty="0"/>
          </a:p>
        </p:txBody>
      </p:sp>
      <p:sp>
        <p:nvSpPr>
          <p:cNvPr id="27" name="Text 15"/>
          <p:cNvSpPr/>
          <p:nvPr/>
        </p:nvSpPr>
        <p:spPr>
          <a:xfrm>
            <a:off x="8138815" y="1933575"/>
            <a:ext cx="3293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BE9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int</a:t>
            </a:r>
            <a:endParaRPr lang="en-US" sz="1200" dirty="0"/>
          </a:p>
        </p:txBody>
      </p:sp>
      <p:sp>
        <p:nvSpPr>
          <p:cNvPr id="28" name="Text 16"/>
          <p:cNvSpPr/>
          <p:nvPr/>
        </p:nvSpPr>
        <p:spPr>
          <a:xfrm>
            <a:off x="8413254" y="1933575"/>
            <a:ext cx="296376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b) {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</a:t>
            </a:r>
            <a:endParaRPr lang="en-US" sz="1200" dirty="0"/>
          </a:p>
        </p:txBody>
      </p:sp>
      <p:sp>
        <p:nvSpPr>
          <p:cNvPr id="29" name="Text 17"/>
          <p:cNvSpPr/>
          <p:nvPr/>
        </p:nvSpPr>
        <p:spPr>
          <a:xfrm>
            <a:off x="7132439" y="2162175"/>
            <a:ext cx="6584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79C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return</a:t>
            </a:r>
            <a:endParaRPr lang="en-US" sz="1200" dirty="0"/>
          </a:p>
        </p:txBody>
      </p:sp>
      <p:sp>
        <p:nvSpPr>
          <p:cNvPr id="30" name="Text 18"/>
          <p:cNvSpPr/>
          <p:nvPr/>
        </p:nvSpPr>
        <p:spPr>
          <a:xfrm>
            <a:off x="7681168" y="2162175"/>
            <a:ext cx="3292376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a + b;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// Overloaded method for doubles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</a:t>
            </a:r>
            <a:endParaRPr lang="en-US" sz="1200" dirty="0"/>
          </a:p>
        </p:txBody>
      </p:sp>
      <p:sp>
        <p:nvSpPr>
          <p:cNvPr id="31" name="Text 19"/>
          <p:cNvSpPr/>
          <p:nvPr/>
        </p:nvSpPr>
        <p:spPr>
          <a:xfrm>
            <a:off x="6766620" y="3076575"/>
            <a:ext cx="6584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79C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double</a:t>
            </a:r>
            <a:endParaRPr lang="en-US" sz="1200" dirty="0"/>
          </a:p>
        </p:txBody>
      </p:sp>
      <p:sp>
        <p:nvSpPr>
          <p:cNvPr id="32" name="Text 20"/>
          <p:cNvSpPr/>
          <p:nvPr/>
        </p:nvSpPr>
        <p:spPr>
          <a:xfrm>
            <a:off x="7406878" y="3076575"/>
            <a:ext cx="3293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0FA7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add</a:t>
            </a:r>
            <a:endParaRPr lang="en-US" sz="1200" dirty="0"/>
          </a:p>
        </p:txBody>
      </p:sp>
      <p:sp>
        <p:nvSpPr>
          <p:cNvPr id="33" name="Text 21"/>
          <p:cNvSpPr/>
          <p:nvPr/>
        </p:nvSpPr>
        <p:spPr>
          <a:xfrm>
            <a:off x="7681317" y="3076575"/>
            <a:ext cx="1098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200" dirty="0"/>
          </a:p>
        </p:txBody>
      </p:sp>
      <p:sp>
        <p:nvSpPr>
          <p:cNvPr id="34" name="Text 22"/>
          <p:cNvSpPr/>
          <p:nvPr/>
        </p:nvSpPr>
        <p:spPr>
          <a:xfrm>
            <a:off x="7772846" y="3076575"/>
            <a:ext cx="6584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BE9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double</a:t>
            </a:r>
            <a:endParaRPr lang="en-US" sz="1200" dirty="0"/>
          </a:p>
        </p:txBody>
      </p:sp>
      <p:sp>
        <p:nvSpPr>
          <p:cNvPr id="35" name="Text 23"/>
          <p:cNvSpPr/>
          <p:nvPr/>
        </p:nvSpPr>
        <p:spPr>
          <a:xfrm>
            <a:off x="8321576" y="3076575"/>
            <a:ext cx="4389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a, </a:t>
            </a:r>
            <a:endParaRPr lang="en-US" sz="1200" dirty="0"/>
          </a:p>
        </p:txBody>
      </p:sp>
      <p:sp>
        <p:nvSpPr>
          <p:cNvPr id="36" name="Text 24"/>
          <p:cNvSpPr/>
          <p:nvPr/>
        </p:nvSpPr>
        <p:spPr>
          <a:xfrm>
            <a:off x="8687395" y="3076575"/>
            <a:ext cx="6584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BE9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double</a:t>
            </a:r>
            <a:endParaRPr lang="en-US" sz="1200" dirty="0"/>
          </a:p>
        </p:txBody>
      </p:sp>
      <p:sp>
        <p:nvSpPr>
          <p:cNvPr id="37" name="Text 25"/>
          <p:cNvSpPr/>
          <p:nvPr/>
        </p:nvSpPr>
        <p:spPr>
          <a:xfrm>
            <a:off x="9236125" y="3076575"/>
            <a:ext cx="329267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b) {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</a:t>
            </a:r>
            <a:endParaRPr lang="en-US" sz="1200" dirty="0"/>
          </a:p>
        </p:txBody>
      </p:sp>
      <p:sp>
        <p:nvSpPr>
          <p:cNvPr id="38" name="Text 26"/>
          <p:cNvSpPr/>
          <p:nvPr/>
        </p:nvSpPr>
        <p:spPr>
          <a:xfrm>
            <a:off x="7132439" y="3305175"/>
            <a:ext cx="6584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79C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return</a:t>
            </a:r>
            <a:endParaRPr lang="en-US" sz="1200" dirty="0"/>
          </a:p>
        </p:txBody>
      </p:sp>
      <p:sp>
        <p:nvSpPr>
          <p:cNvPr id="39" name="Text 27"/>
          <p:cNvSpPr/>
          <p:nvPr/>
        </p:nvSpPr>
        <p:spPr>
          <a:xfrm>
            <a:off x="7681168" y="3305175"/>
            <a:ext cx="1920627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a + b;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8382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382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525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19200"/>
            <a:ext cx="5486400" cy="2095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371600"/>
            <a:ext cx="219075" cy="190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543300"/>
            <a:ext cx="5486400" cy="17145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695700"/>
            <a:ext cx="238125" cy="1905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5486400"/>
            <a:ext cx="5486400" cy="10287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5638800"/>
            <a:ext cx="190500" cy="1905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0" y="1219200"/>
            <a:ext cx="5486400" cy="6705600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spc="-54" kern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Polymorphism: Subtype</a:t>
            </a:r>
            <a:endParaRPr lang="en-US" sz="2700" dirty="0"/>
          </a:p>
        </p:txBody>
      </p:sp>
      <p:sp>
        <p:nvSpPr>
          <p:cNvPr id="13" name="Text 1"/>
          <p:cNvSpPr/>
          <p:nvPr/>
        </p:nvSpPr>
        <p:spPr>
          <a:xfrm>
            <a:off x="866775" y="1333500"/>
            <a:ext cx="6309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0A5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is Subtype Polymorphism?</a:t>
            </a:r>
            <a:endParaRPr lang="en-US" sz="1500" dirty="0"/>
          </a:p>
        </p:txBody>
      </p:sp>
      <p:sp>
        <p:nvSpPr>
          <p:cNvPr id="14" name="Text 2"/>
          <p:cNvSpPr/>
          <p:nvPr/>
        </p:nvSpPr>
        <p:spPr>
          <a:xfrm>
            <a:off x="571500" y="167640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Subtype polymorphism allows a value of a certain type (subtype) to be used wherever a value of a more general type (supertype) is expected.</a:t>
            </a:r>
            <a:endParaRPr lang="en-US" sz="1200" dirty="0"/>
          </a:p>
        </p:txBody>
      </p:sp>
      <p:sp>
        <p:nvSpPr>
          <p:cNvPr id="15" name="Text 3"/>
          <p:cNvSpPr/>
          <p:nvPr/>
        </p:nvSpPr>
        <p:spPr>
          <a:xfrm>
            <a:off x="571500" y="251460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Typically achieved through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084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inheritance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or 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084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interface implementation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, where methods can be overridden in derived classes.</a:t>
            </a:r>
            <a:endParaRPr lang="en-US" sz="1200" dirty="0"/>
          </a:p>
        </p:txBody>
      </p:sp>
      <p:sp>
        <p:nvSpPr>
          <p:cNvPr id="16" name="Text 4"/>
          <p:cNvSpPr/>
          <p:nvPr/>
        </p:nvSpPr>
        <p:spPr>
          <a:xfrm>
            <a:off x="885825" y="3657600"/>
            <a:ext cx="525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0A5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Benefits</a:t>
            </a:r>
            <a:endParaRPr lang="en-US" sz="1500" dirty="0"/>
          </a:p>
        </p:txBody>
      </p:sp>
      <p:sp>
        <p:nvSpPr>
          <p:cNvPr id="17" name="Text 5"/>
          <p:cNvSpPr/>
          <p:nvPr/>
        </p:nvSpPr>
        <p:spPr>
          <a:xfrm>
            <a:off x="571500" y="400050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Code reuse through inheritance</a:t>
            </a:r>
            <a:endParaRPr lang="en-US" sz="1200" dirty="0"/>
          </a:p>
        </p:txBody>
      </p:sp>
      <p:sp>
        <p:nvSpPr>
          <p:cNvPr id="18" name="Text 6"/>
          <p:cNvSpPr/>
          <p:nvPr/>
        </p:nvSpPr>
        <p:spPr>
          <a:xfrm>
            <a:off x="571500" y="430530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Method overriding for specific implementations</a:t>
            </a:r>
            <a:endParaRPr lang="en-US" sz="1200" dirty="0"/>
          </a:p>
        </p:txBody>
      </p:sp>
      <p:sp>
        <p:nvSpPr>
          <p:cNvPr id="19" name="Text 7"/>
          <p:cNvSpPr/>
          <p:nvPr/>
        </p:nvSpPr>
        <p:spPr>
          <a:xfrm>
            <a:off x="571500" y="461010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Dynamic dispatch based on object type</a:t>
            </a:r>
            <a:endParaRPr lang="en-US" sz="1200" dirty="0"/>
          </a:p>
        </p:txBody>
      </p:sp>
      <p:sp>
        <p:nvSpPr>
          <p:cNvPr id="20" name="Text 8"/>
          <p:cNvSpPr/>
          <p:nvPr/>
        </p:nvSpPr>
        <p:spPr>
          <a:xfrm>
            <a:off x="571500" y="491490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Flexibility in object creation and usage</a:t>
            </a:r>
            <a:endParaRPr lang="en-US" sz="1200" dirty="0"/>
          </a:p>
        </p:txBody>
      </p:sp>
      <p:sp>
        <p:nvSpPr>
          <p:cNvPr id="21" name="Text 9"/>
          <p:cNvSpPr/>
          <p:nvPr/>
        </p:nvSpPr>
        <p:spPr>
          <a:xfrm>
            <a:off x="838200" y="5600700"/>
            <a:ext cx="525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0A5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Common Pitfalls</a:t>
            </a:r>
            <a:endParaRPr lang="en-US" sz="1500" dirty="0"/>
          </a:p>
        </p:txBody>
      </p:sp>
      <p:sp>
        <p:nvSpPr>
          <p:cNvPr id="22" name="Text 10"/>
          <p:cNvSpPr/>
          <p:nvPr/>
        </p:nvSpPr>
        <p:spPr>
          <a:xfrm>
            <a:off x="571500" y="594360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"fragile base class problem" - changes to a superclass can unintentionally affect all subclasses.</a:t>
            </a:r>
            <a:endParaRPr lang="en-US" sz="1200" dirty="0"/>
          </a:p>
        </p:txBody>
      </p:sp>
      <p:sp>
        <p:nvSpPr>
          <p:cNvPr id="23" name="Text 11"/>
          <p:cNvSpPr/>
          <p:nvPr/>
        </p:nvSpPr>
        <p:spPr>
          <a:xfrm>
            <a:off x="6400800" y="1400175"/>
            <a:ext cx="34022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Subtype Polymorphism Example</a:t>
            </a:r>
            <a:endParaRPr lang="en-US" sz="1200" dirty="0"/>
          </a:p>
        </p:txBody>
      </p:sp>
      <p:sp>
        <p:nvSpPr>
          <p:cNvPr id="24" name="Text 12"/>
          <p:cNvSpPr/>
          <p:nvPr/>
        </p:nvSpPr>
        <p:spPr>
          <a:xfrm>
            <a:off x="6400800" y="1857375"/>
            <a:ext cx="5488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299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class</a:t>
            </a:r>
            <a:endParaRPr lang="en-US" sz="1200" dirty="0"/>
          </a:p>
        </p:txBody>
      </p:sp>
      <p:sp>
        <p:nvSpPr>
          <p:cNvPr id="25" name="Text 13"/>
          <p:cNvSpPr/>
          <p:nvPr/>
        </p:nvSpPr>
        <p:spPr>
          <a:xfrm>
            <a:off x="6949678" y="1857375"/>
            <a:ext cx="6584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8BB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Animal</a:t>
            </a:r>
            <a:endParaRPr lang="en-US" sz="1200" dirty="0"/>
          </a:p>
        </p:txBody>
      </p:sp>
      <p:sp>
        <p:nvSpPr>
          <p:cNvPr id="26" name="Text 14"/>
          <p:cNvSpPr/>
          <p:nvPr/>
        </p:nvSpPr>
        <p:spPr>
          <a:xfrm>
            <a:off x="7498407" y="1857375"/>
            <a:ext cx="128051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{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</a:t>
            </a:r>
            <a:endParaRPr lang="en-US" sz="1200" dirty="0"/>
          </a:p>
        </p:txBody>
      </p:sp>
      <p:sp>
        <p:nvSpPr>
          <p:cNvPr id="27" name="Text 15"/>
          <p:cNvSpPr/>
          <p:nvPr/>
        </p:nvSpPr>
        <p:spPr>
          <a:xfrm>
            <a:off x="6766620" y="2085975"/>
            <a:ext cx="4389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299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void</a:t>
            </a:r>
            <a:endParaRPr lang="en-US" sz="1200" dirty="0"/>
          </a:p>
        </p:txBody>
      </p:sp>
      <p:sp>
        <p:nvSpPr>
          <p:cNvPr id="28" name="Text 16"/>
          <p:cNvSpPr/>
          <p:nvPr/>
        </p:nvSpPr>
        <p:spPr>
          <a:xfrm>
            <a:off x="7132439" y="2085975"/>
            <a:ext cx="246935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speak() {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System.out.println(</a:t>
            </a:r>
            <a:endParaRPr lang="en-US" sz="1200" dirty="0"/>
          </a:p>
        </p:txBody>
      </p:sp>
      <p:sp>
        <p:nvSpPr>
          <p:cNvPr id="29" name="Text 17"/>
          <p:cNvSpPr/>
          <p:nvPr/>
        </p:nvSpPr>
        <p:spPr>
          <a:xfrm>
            <a:off x="8870156" y="2314575"/>
            <a:ext cx="24144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6AD5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"Animal makes a sound"</a:t>
            </a:r>
            <a:endParaRPr lang="en-US" sz="1200" dirty="0"/>
          </a:p>
        </p:txBody>
      </p:sp>
      <p:sp>
        <p:nvSpPr>
          <p:cNvPr id="30" name="Text 18"/>
          <p:cNvSpPr/>
          <p:nvPr/>
        </p:nvSpPr>
        <p:spPr>
          <a:xfrm>
            <a:off x="10882164" y="2314575"/>
            <a:ext cx="4664273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);
    }
}
</a:t>
            </a:r>
            <a:endParaRPr lang="en-US" sz="1200" dirty="0"/>
          </a:p>
        </p:txBody>
      </p:sp>
      <p:sp>
        <p:nvSpPr>
          <p:cNvPr id="31" name="Text 19"/>
          <p:cNvSpPr/>
          <p:nvPr/>
        </p:nvSpPr>
        <p:spPr>
          <a:xfrm>
            <a:off x="6400800" y="3228975"/>
            <a:ext cx="5488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299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class</a:t>
            </a:r>
            <a:endParaRPr lang="en-US" sz="1200" dirty="0"/>
          </a:p>
        </p:txBody>
      </p:sp>
      <p:sp>
        <p:nvSpPr>
          <p:cNvPr id="32" name="Text 20"/>
          <p:cNvSpPr/>
          <p:nvPr/>
        </p:nvSpPr>
        <p:spPr>
          <a:xfrm>
            <a:off x="6949678" y="3228975"/>
            <a:ext cx="3293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8BB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Dog</a:t>
            </a:r>
            <a:endParaRPr lang="en-US" sz="1200" dirty="0"/>
          </a:p>
        </p:txBody>
      </p:sp>
      <p:sp>
        <p:nvSpPr>
          <p:cNvPr id="33" name="Text 21"/>
          <p:cNvSpPr/>
          <p:nvPr/>
        </p:nvSpPr>
        <p:spPr>
          <a:xfrm>
            <a:off x="7315646" y="3228975"/>
            <a:ext cx="7683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299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extends</a:t>
            </a:r>
            <a:endParaRPr lang="en-US" sz="1200" dirty="0"/>
          </a:p>
        </p:txBody>
      </p:sp>
      <p:sp>
        <p:nvSpPr>
          <p:cNvPr id="34" name="Text 22"/>
          <p:cNvSpPr/>
          <p:nvPr/>
        </p:nvSpPr>
        <p:spPr>
          <a:xfrm>
            <a:off x="7955905" y="3228975"/>
            <a:ext cx="285392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Animal {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</a:t>
            </a:r>
            <a:endParaRPr lang="en-US" sz="1200" dirty="0"/>
          </a:p>
        </p:txBody>
      </p:sp>
      <p:sp>
        <p:nvSpPr>
          <p:cNvPr id="35" name="Text 23"/>
          <p:cNvSpPr/>
          <p:nvPr/>
        </p:nvSpPr>
        <p:spPr>
          <a:xfrm>
            <a:off x="6766620" y="3457575"/>
            <a:ext cx="9878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@Override</a:t>
            </a:r>
            <a:endParaRPr lang="en-US" sz="1200" dirty="0"/>
          </a:p>
        </p:txBody>
      </p:sp>
      <p:sp>
        <p:nvSpPr>
          <p:cNvPr id="36" name="Text 24"/>
          <p:cNvSpPr/>
          <p:nvPr/>
        </p:nvSpPr>
        <p:spPr>
          <a:xfrm>
            <a:off x="6766620" y="3686175"/>
            <a:ext cx="4389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299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void</a:t>
            </a:r>
            <a:endParaRPr lang="en-US" sz="1200" dirty="0"/>
          </a:p>
        </p:txBody>
      </p:sp>
      <p:sp>
        <p:nvSpPr>
          <p:cNvPr id="37" name="Text 25"/>
          <p:cNvSpPr/>
          <p:nvPr/>
        </p:nvSpPr>
        <p:spPr>
          <a:xfrm>
            <a:off x="7132439" y="3686175"/>
            <a:ext cx="246935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speak() {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System.out.println(</a:t>
            </a:r>
            <a:endParaRPr lang="en-US" sz="1200" dirty="0"/>
          </a:p>
        </p:txBody>
      </p:sp>
      <p:sp>
        <p:nvSpPr>
          <p:cNvPr id="38" name="Text 26"/>
          <p:cNvSpPr/>
          <p:nvPr/>
        </p:nvSpPr>
        <p:spPr>
          <a:xfrm>
            <a:off x="8870156" y="3914775"/>
            <a:ext cx="6584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6AD5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"Woof"</a:t>
            </a:r>
            <a:endParaRPr lang="en-US" sz="1200" dirty="0"/>
          </a:p>
        </p:txBody>
      </p:sp>
      <p:sp>
        <p:nvSpPr>
          <p:cNvPr id="39" name="Text 27"/>
          <p:cNvSpPr/>
          <p:nvPr/>
        </p:nvSpPr>
        <p:spPr>
          <a:xfrm>
            <a:off x="9418886" y="3914775"/>
            <a:ext cx="320099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);
    }
}
</a:t>
            </a:r>
            <a:endParaRPr lang="en-US" sz="1200" dirty="0"/>
          </a:p>
        </p:txBody>
      </p:sp>
      <p:sp>
        <p:nvSpPr>
          <p:cNvPr id="40" name="Text 28"/>
          <p:cNvSpPr/>
          <p:nvPr/>
        </p:nvSpPr>
        <p:spPr>
          <a:xfrm>
            <a:off x="6400800" y="4829175"/>
            <a:ext cx="5488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299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class</a:t>
            </a:r>
            <a:endParaRPr lang="en-US" sz="1200" dirty="0"/>
          </a:p>
        </p:txBody>
      </p:sp>
      <p:sp>
        <p:nvSpPr>
          <p:cNvPr id="41" name="Text 29"/>
          <p:cNvSpPr/>
          <p:nvPr/>
        </p:nvSpPr>
        <p:spPr>
          <a:xfrm>
            <a:off x="6949678" y="4829175"/>
            <a:ext cx="3293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8BB7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Cat</a:t>
            </a:r>
            <a:endParaRPr lang="en-US" sz="1200" dirty="0"/>
          </a:p>
        </p:txBody>
      </p:sp>
      <p:sp>
        <p:nvSpPr>
          <p:cNvPr id="42" name="Text 30"/>
          <p:cNvSpPr/>
          <p:nvPr/>
        </p:nvSpPr>
        <p:spPr>
          <a:xfrm>
            <a:off x="7315646" y="4829175"/>
            <a:ext cx="7683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299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extends</a:t>
            </a:r>
            <a:endParaRPr lang="en-US" sz="1200" dirty="0"/>
          </a:p>
        </p:txBody>
      </p:sp>
      <p:sp>
        <p:nvSpPr>
          <p:cNvPr id="43" name="Text 31"/>
          <p:cNvSpPr/>
          <p:nvPr/>
        </p:nvSpPr>
        <p:spPr>
          <a:xfrm>
            <a:off x="7955905" y="4829175"/>
            <a:ext cx="285392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Animal {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</a:t>
            </a:r>
            <a:endParaRPr lang="en-US" sz="1200" dirty="0"/>
          </a:p>
        </p:txBody>
      </p:sp>
      <p:sp>
        <p:nvSpPr>
          <p:cNvPr id="44" name="Text 32"/>
          <p:cNvSpPr/>
          <p:nvPr/>
        </p:nvSpPr>
        <p:spPr>
          <a:xfrm>
            <a:off x="6766620" y="5057775"/>
            <a:ext cx="9878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@Override</a:t>
            </a:r>
            <a:endParaRPr lang="en-US" sz="1200" dirty="0"/>
          </a:p>
        </p:txBody>
      </p:sp>
      <p:sp>
        <p:nvSpPr>
          <p:cNvPr id="45" name="Text 33"/>
          <p:cNvSpPr/>
          <p:nvPr/>
        </p:nvSpPr>
        <p:spPr>
          <a:xfrm>
            <a:off x="6766620" y="5286375"/>
            <a:ext cx="4389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299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void</a:t>
            </a:r>
            <a:endParaRPr lang="en-US" sz="1200" dirty="0"/>
          </a:p>
        </p:txBody>
      </p:sp>
      <p:sp>
        <p:nvSpPr>
          <p:cNvPr id="46" name="Text 34"/>
          <p:cNvSpPr/>
          <p:nvPr/>
        </p:nvSpPr>
        <p:spPr>
          <a:xfrm>
            <a:off x="7132439" y="5286375"/>
            <a:ext cx="246935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speak() {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System.out.println(</a:t>
            </a:r>
            <a:endParaRPr lang="en-US" sz="1200" dirty="0"/>
          </a:p>
        </p:txBody>
      </p:sp>
      <p:sp>
        <p:nvSpPr>
          <p:cNvPr id="47" name="Text 35"/>
          <p:cNvSpPr/>
          <p:nvPr/>
        </p:nvSpPr>
        <p:spPr>
          <a:xfrm>
            <a:off x="8870156" y="5514975"/>
            <a:ext cx="6584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6AD5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"Meow"</a:t>
            </a:r>
            <a:endParaRPr lang="en-US" sz="1200" dirty="0"/>
          </a:p>
        </p:txBody>
      </p:sp>
      <p:sp>
        <p:nvSpPr>
          <p:cNvPr id="48" name="Text 36"/>
          <p:cNvSpPr/>
          <p:nvPr/>
        </p:nvSpPr>
        <p:spPr>
          <a:xfrm>
            <a:off x="9418886" y="5514975"/>
            <a:ext cx="320099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);
    }
}
</a:t>
            </a:r>
            <a:endParaRPr lang="en-US" sz="1200" dirty="0"/>
          </a:p>
        </p:txBody>
      </p:sp>
      <p:sp>
        <p:nvSpPr>
          <p:cNvPr id="49" name="Text 37"/>
          <p:cNvSpPr/>
          <p:nvPr/>
        </p:nvSpPr>
        <p:spPr>
          <a:xfrm>
            <a:off x="6400800" y="6429375"/>
            <a:ext cx="87796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Usage</a:t>
            </a:r>
            <a:endParaRPr lang="en-US" sz="1200" dirty="0"/>
          </a:p>
        </p:txBody>
      </p:sp>
      <p:sp>
        <p:nvSpPr>
          <p:cNvPr id="50" name="Text 38"/>
          <p:cNvSpPr/>
          <p:nvPr/>
        </p:nvSpPr>
        <p:spPr>
          <a:xfrm>
            <a:off x="7132439" y="6657975"/>
            <a:ext cx="164627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Animal myDog = </a:t>
            </a:r>
            <a:endParaRPr lang="en-US" sz="1200" dirty="0"/>
          </a:p>
        </p:txBody>
      </p:sp>
      <p:sp>
        <p:nvSpPr>
          <p:cNvPr id="51" name="Text 39"/>
          <p:cNvSpPr/>
          <p:nvPr/>
        </p:nvSpPr>
        <p:spPr>
          <a:xfrm>
            <a:off x="7772698" y="6657975"/>
            <a:ext cx="3293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299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new</a:t>
            </a:r>
            <a:endParaRPr lang="en-US" sz="1200" dirty="0"/>
          </a:p>
        </p:txBody>
      </p:sp>
      <p:sp>
        <p:nvSpPr>
          <p:cNvPr id="52" name="Text 40"/>
          <p:cNvSpPr/>
          <p:nvPr/>
        </p:nvSpPr>
        <p:spPr>
          <a:xfrm>
            <a:off x="8047137" y="6657975"/>
            <a:ext cx="228659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Dog();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Animal myCat = </a:t>
            </a:r>
            <a:endParaRPr lang="en-US" sz="1200" dirty="0"/>
          </a:p>
        </p:txBody>
      </p:sp>
      <p:sp>
        <p:nvSpPr>
          <p:cNvPr id="53" name="Text 41"/>
          <p:cNvSpPr/>
          <p:nvPr/>
        </p:nvSpPr>
        <p:spPr>
          <a:xfrm>
            <a:off x="7772698" y="6886575"/>
            <a:ext cx="3293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299E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new</a:t>
            </a:r>
            <a:endParaRPr lang="en-US" sz="1200" dirty="0"/>
          </a:p>
        </p:txBody>
      </p:sp>
      <p:sp>
        <p:nvSpPr>
          <p:cNvPr id="54" name="Text 42"/>
          <p:cNvSpPr/>
          <p:nvPr/>
        </p:nvSpPr>
        <p:spPr>
          <a:xfrm>
            <a:off x="8047137" y="6886575"/>
            <a:ext cx="228659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Cat();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myDog.speak(); </a:t>
            </a:r>
            <a:endParaRPr lang="en-US" sz="1200" dirty="0"/>
          </a:p>
        </p:txBody>
      </p:sp>
      <p:sp>
        <p:nvSpPr>
          <p:cNvPr id="55" name="Text 43"/>
          <p:cNvSpPr/>
          <p:nvPr/>
        </p:nvSpPr>
        <p:spPr>
          <a:xfrm>
            <a:off x="7772698" y="7343775"/>
            <a:ext cx="164627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Output: Woof</a:t>
            </a:r>
            <a:endParaRPr lang="en-US" sz="1200" dirty="0"/>
          </a:p>
        </p:txBody>
      </p:sp>
      <p:sp>
        <p:nvSpPr>
          <p:cNvPr id="56" name="Text 44"/>
          <p:cNvSpPr/>
          <p:nvPr/>
        </p:nvSpPr>
        <p:spPr>
          <a:xfrm>
            <a:off x="9144595" y="7572375"/>
            <a:ext cx="164627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myCat.speak(); </a:t>
            </a:r>
            <a:endParaRPr lang="en-US" sz="1200" dirty="0"/>
          </a:p>
        </p:txBody>
      </p:sp>
      <p:sp>
        <p:nvSpPr>
          <p:cNvPr id="57" name="Text 45"/>
          <p:cNvSpPr/>
          <p:nvPr/>
        </p:nvSpPr>
        <p:spPr>
          <a:xfrm>
            <a:off x="7772698" y="7572375"/>
            <a:ext cx="164627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Output: Meow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525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23975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657475"/>
            <a:ext cx="285750" cy="2286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219575"/>
            <a:ext cx="228600" cy="2286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648200"/>
            <a:ext cx="76200" cy="1524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953000"/>
            <a:ext cx="76200" cy="1524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5257800"/>
            <a:ext cx="76200" cy="1524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5562600"/>
            <a:ext cx="76200" cy="1524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86500" y="1295400"/>
            <a:ext cx="5448300" cy="9525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8900" y="1447800"/>
            <a:ext cx="114300" cy="1143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29400" y="1447800"/>
            <a:ext cx="114300" cy="1143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19900" y="1447800"/>
            <a:ext cx="114300" cy="1143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86500" y="2476500"/>
            <a:ext cx="5448300" cy="1838325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8900" y="3009900"/>
            <a:ext cx="1285875" cy="8001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67538" y="3124200"/>
            <a:ext cx="228600" cy="3048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79569" y="3333750"/>
            <a:ext cx="133350" cy="1524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67712" y="3009900"/>
            <a:ext cx="1285875" cy="8001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924925" y="3124200"/>
            <a:ext cx="171450" cy="3048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908381" y="3333750"/>
            <a:ext cx="133350" cy="1524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296525" y="3009900"/>
            <a:ext cx="1285875" cy="8001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825163" y="3124200"/>
            <a:ext cx="228600" cy="3048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286500" y="4467225"/>
            <a:ext cx="200025" cy="3048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704534" y="4467225"/>
            <a:ext cx="285750" cy="3048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982646" y="6134100"/>
            <a:ext cx="228600" cy="30480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511135" y="6134100"/>
            <a:ext cx="200025" cy="30480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186368" y="6134100"/>
            <a:ext cx="200025" cy="304800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1763375" y="6134100"/>
            <a:ext cx="200025" cy="304800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spc="-54" kern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Type Inference (Hindley-Milner)</a:t>
            </a:r>
            <a:endParaRPr lang="en-US" sz="2700" dirty="0"/>
          </a:p>
        </p:txBody>
      </p:sp>
      <p:sp>
        <p:nvSpPr>
          <p:cNvPr id="32" name="Text 1"/>
          <p:cNvSpPr/>
          <p:nvPr/>
        </p:nvSpPr>
        <p:spPr>
          <a:xfrm>
            <a:off x="762000" y="1295400"/>
            <a:ext cx="65379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C084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is Type Inference?</a:t>
            </a:r>
            <a:endParaRPr lang="en-US" sz="1800" dirty="0"/>
          </a:p>
        </p:txBody>
      </p:sp>
      <p:sp>
        <p:nvSpPr>
          <p:cNvPr id="33" name="Text 2"/>
          <p:cNvSpPr/>
          <p:nvPr/>
        </p:nvSpPr>
        <p:spPr>
          <a:xfrm>
            <a:off x="457200" y="1714500"/>
            <a:ext cx="5448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Type inference is a powerful feature in statically typed languages where the compiler automatically deduces the types of expressions and variables, reducing the need for explicit type annotations.</a:t>
            </a:r>
            <a:endParaRPr lang="en-US" sz="1200" dirty="0"/>
          </a:p>
        </p:txBody>
      </p:sp>
      <p:sp>
        <p:nvSpPr>
          <p:cNvPr id="34" name="Text 3"/>
          <p:cNvSpPr/>
          <p:nvPr/>
        </p:nvSpPr>
        <p:spPr>
          <a:xfrm>
            <a:off x="819150" y="2628900"/>
            <a:ext cx="65379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818CF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Hindley-Milner Algorithm</a:t>
            </a:r>
            <a:endParaRPr lang="en-US" sz="1800" dirty="0"/>
          </a:p>
        </p:txBody>
      </p:sp>
      <p:sp>
        <p:nvSpPr>
          <p:cNvPr id="35" name="Text 4"/>
          <p:cNvSpPr/>
          <p:nvPr/>
        </p:nvSpPr>
        <p:spPr>
          <a:xfrm>
            <a:off x="457200" y="3048000"/>
            <a:ext cx="54483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Hindley-Milner algorithm is a foundational system for type inference that can infer the most general type for an expression, including polymorphic types. It's used in languages like ML and Haskell.</a:t>
            </a:r>
            <a:endParaRPr lang="en-US" sz="1200" dirty="0"/>
          </a:p>
        </p:txBody>
      </p:sp>
      <p:sp>
        <p:nvSpPr>
          <p:cNvPr id="36" name="Text 5"/>
          <p:cNvSpPr/>
          <p:nvPr/>
        </p:nvSpPr>
        <p:spPr>
          <a:xfrm>
            <a:off x="762000" y="4191000"/>
            <a:ext cx="544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0A5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Benefits</a:t>
            </a:r>
            <a:endParaRPr lang="en-US" sz="1800" dirty="0"/>
          </a:p>
        </p:txBody>
      </p:sp>
      <p:sp>
        <p:nvSpPr>
          <p:cNvPr id="37" name="Text 6"/>
          <p:cNvSpPr/>
          <p:nvPr/>
        </p:nvSpPr>
        <p:spPr>
          <a:xfrm>
            <a:off x="609600" y="4610100"/>
            <a:ext cx="40840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Makes code more concise and easier to read</a:t>
            </a:r>
            <a:endParaRPr lang="en-US" sz="1200" dirty="0"/>
          </a:p>
        </p:txBody>
      </p:sp>
      <p:sp>
        <p:nvSpPr>
          <p:cNvPr id="38" name="Text 7"/>
          <p:cNvSpPr/>
          <p:nvPr/>
        </p:nvSpPr>
        <p:spPr>
          <a:xfrm>
            <a:off x="609600" y="4914900"/>
            <a:ext cx="33179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Reduces repetitive type annotations</a:t>
            </a:r>
            <a:endParaRPr lang="en-US" sz="1200" dirty="0"/>
          </a:p>
        </p:txBody>
      </p:sp>
      <p:sp>
        <p:nvSpPr>
          <p:cNvPr id="39" name="Text 8"/>
          <p:cNvSpPr/>
          <p:nvPr/>
        </p:nvSpPr>
        <p:spPr>
          <a:xfrm>
            <a:off x="609600" y="5219700"/>
            <a:ext cx="46680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Enables polymorphic functions and data structures</a:t>
            </a:r>
            <a:endParaRPr lang="en-US" sz="1200" dirty="0"/>
          </a:p>
        </p:txBody>
      </p:sp>
      <p:sp>
        <p:nvSpPr>
          <p:cNvPr id="40" name="Text 9"/>
          <p:cNvSpPr/>
          <p:nvPr/>
        </p:nvSpPr>
        <p:spPr>
          <a:xfrm>
            <a:off x="609600" y="5524500"/>
            <a:ext cx="36122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Retains benefits of static type checking</a:t>
            </a:r>
            <a:endParaRPr lang="en-US" sz="1200" dirty="0"/>
          </a:p>
        </p:txBody>
      </p:sp>
      <p:sp>
        <p:nvSpPr>
          <p:cNvPr id="41" name="Text 10"/>
          <p:cNvSpPr/>
          <p:nvPr/>
        </p:nvSpPr>
        <p:spPr>
          <a:xfrm>
            <a:off x="6438900" y="1666875"/>
            <a:ext cx="6584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square</a:t>
            </a:r>
            <a:endParaRPr lang="en-US" sz="1200" dirty="0"/>
          </a:p>
        </p:txBody>
      </p:sp>
      <p:sp>
        <p:nvSpPr>
          <p:cNvPr id="42" name="Text 11"/>
          <p:cNvSpPr/>
          <p:nvPr/>
        </p:nvSpPr>
        <p:spPr>
          <a:xfrm>
            <a:off x="7079159" y="1666875"/>
            <a:ext cx="1098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x</a:t>
            </a:r>
            <a:endParaRPr lang="en-US" sz="1200" dirty="0"/>
          </a:p>
        </p:txBody>
      </p:sp>
      <p:sp>
        <p:nvSpPr>
          <p:cNvPr id="43" name="Text 12"/>
          <p:cNvSpPr/>
          <p:nvPr/>
        </p:nvSpPr>
        <p:spPr>
          <a:xfrm>
            <a:off x="7170688" y="1666875"/>
            <a:ext cx="3293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= </a:t>
            </a:r>
            <a:endParaRPr lang="en-US" sz="1200" dirty="0"/>
          </a:p>
        </p:txBody>
      </p:sp>
      <p:sp>
        <p:nvSpPr>
          <p:cNvPr id="44" name="Text 13"/>
          <p:cNvSpPr/>
          <p:nvPr/>
        </p:nvSpPr>
        <p:spPr>
          <a:xfrm>
            <a:off x="7445127" y="1666875"/>
            <a:ext cx="1098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x</a:t>
            </a:r>
            <a:endParaRPr lang="en-US" sz="1200" dirty="0"/>
          </a:p>
        </p:txBody>
      </p:sp>
      <p:sp>
        <p:nvSpPr>
          <p:cNvPr id="45" name="Text 14"/>
          <p:cNvSpPr/>
          <p:nvPr/>
        </p:nvSpPr>
        <p:spPr>
          <a:xfrm>
            <a:off x="7536656" y="1666875"/>
            <a:ext cx="3293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* </a:t>
            </a:r>
            <a:endParaRPr lang="en-US" sz="1200" dirty="0"/>
          </a:p>
        </p:txBody>
      </p:sp>
      <p:sp>
        <p:nvSpPr>
          <p:cNvPr id="46" name="Text 15"/>
          <p:cNvSpPr/>
          <p:nvPr/>
        </p:nvSpPr>
        <p:spPr>
          <a:xfrm>
            <a:off x="7811095" y="1666875"/>
            <a:ext cx="1098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x</a:t>
            </a:r>
            <a:endParaRPr lang="en-US" sz="1200" dirty="0"/>
          </a:p>
        </p:txBody>
      </p:sp>
      <p:sp>
        <p:nvSpPr>
          <p:cNvPr id="47" name="Text 16"/>
          <p:cNvSpPr/>
          <p:nvPr/>
        </p:nvSpPr>
        <p:spPr>
          <a:xfrm>
            <a:off x="6621810" y="1895475"/>
            <a:ext cx="30728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3E6B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-- inferred: Num a =&gt; a -&gt; a</a:t>
            </a:r>
            <a:endParaRPr lang="en-US" sz="1200" dirty="0"/>
          </a:p>
        </p:txBody>
      </p:sp>
      <p:sp>
        <p:nvSpPr>
          <p:cNvPr id="48" name="Text 17"/>
          <p:cNvSpPr/>
          <p:nvPr/>
        </p:nvSpPr>
        <p:spPr>
          <a:xfrm>
            <a:off x="6438900" y="2628900"/>
            <a:ext cx="514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Type Inference Process</a:t>
            </a:r>
            <a:endParaRPr lang="en-US" sz="1500" dirty="0"/>
          </a:p>
        </p:txBody>
      </p:sp>
      <p:sp>
        <p:nvSpPr>
          <p:cNvPr id="49" name="Text 18"/>
          <p:cNvSpPr/>
          <p:nvPr/>
        </p:nvSpPr>
        <p:spPr>
          <a:xfrm>
            <a:off x="6447473" y="3505200"/>
            <a:ext cx="12687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Unknown type</a:t>
            </a:r>
            <a:endParaRPr lang="en-US" sz="1050" dirty="0"/>
          </a:p>
        </p:txBody>
      </p:sp>
      <p:sp>
        <p:nvSpPr>
          <p:cNvPr id="50" name="Text 19"/>
          <p:cNvSpPr/>
          <p:nvPr/>
        </p:nvSpPr>
        <p:spPr>
          <a:xfrm>
            <a:off x="8376285" y="3505200"/>
            <a:ext cx="12687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Num constraint</a:t>
            </a:r>
            <a:endParaRPr lang="en-US" sz="1050" dirty="0"/>
          </a:p>
        </p:txBody>
      </p:sp>
      <p:sp>
        <p:nvSpPr>
          <p:cNvPr id="51" name="Text 20"/>
          <p:cNvSpPr/>
          <p:nvPr/>
        </p:nvSpPr>
        <p:spPr>
          <a:xfrm>
            <a:off x="10305098" y="3505200"/>
            <a:ext cx="12687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Type inferred</a:t>
            </a:r>
            <a:endParaRPr lang="en-US" sz="1050" dirty="0"/>
          </a:p>
        </p:txBody>
      </p:sp>
      <p:sp>
        <p:nvSpPr>
          <p:cNvPr id="52" name="Text 21"/>
          <p:cNvSpPr/>
          <p:nvPr/>
        </p:nvSpPr>
        <p:spPr>
          <a:xfrm>
            <a:off x="5924550" y="3962400"/>
            <a:ext cx="6172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algorithm infers </a:t>
            </a:r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084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Num a =&gt; a -&gt; a</a:t>
            </a:r>
            <a:endParaRPr lang="en-US" sz="1050" dirty="0"/>
          </a:p>
        </p:txBody>
      </p:sp>
      <p:sp>
        <p:nvSpPr>
          <p:cNvPr id="53" name="Text 22"/>
          <p:cNvSpPr/>
          <p:nvPr/>
        </p:nvSpPr>
        <p:spPr>
          <a:xfrm>
            <a:off x="6305252" y="4810125"/>
            <a:ext cx="1948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ML</a:t>
            </a:r>
            <a:endParaRPr lang="en-US" sz="900" dirty="0"/>
          </a:p>
        </p:txBody>
      </p:sp>
      <p:sp>
        <p:nvSpPr>
          <p:cNvPr id="54" name="Text 23"/>
          <p:cNvSpPr/>
          <p:nvPr/>
        </p:nvSpPr>
        <p:spPr>
          <a:xfrm>
            <a:off x="6715125" y="4505325"/>
            <a:ext cx="4938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Haskell</a:t>
            </a:r>
            <a:endParaRPr lang="en-US" sz="900" dirty="0"/>
          </a:p>
        </p:txBody>
      </p:sp>
      <p:sp>
        <p:nvSpPr>
          <p:cNvPr id="55" name="Text 24"/>
          <p:cNvSpPr/>
          <p:nvPr/>
        </p:nvSpPr>
        <p:spPr>
          <a:xfrm>
            <a:off x="7355235" y="4810125"/>
            <a:ext cx="11813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Other Languages</a:t>
            </a:r>
            <a:endParaRPr lang="en-US" sz="900" dirty="0"/>
          </a:p>
        </p:txBody>
      </p:sp>
      <p:sp>
        <p:nvSpPr>
          <p:cNvPr id="56" name="Text 25"/>
          <p:cNvSpPr/>
          <p:nvPr/>
        </p:nvSpPr>
        <p:spPr>
          <a:xfrm>
            <a:off x="9971336" y="6477000"/>
            <a:ext cx="3014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Rust</a:t>
            </a:r>
            <a:endParaRPr lang="en-US" sz="900" dirty="0"/>
          </a:p>
        </p:txBody>
      </p:sp>
      <p:sp>
        <p:nvSpPr>
          <p:cNvPr id="57" name="Text 26"/>
          <p:cNvSpPr/>
          <p:nvPr/>
        </p:nvSpPr>
        <p:spPr>
          <a:xfrm>
            <a:off x="10413057" y="6477000"/>
            <a:ext cx="4755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Python</a:t>
            </a:r>
            <a:endParaRPr lang="en-US" sz="900" dirty="0"/>
          </a:p>
        </p:txBody>
      </p:sp>
      <p:sp>
        <p:nvSpPr>
          <p:cNvPr id="58" name="Text 27"/>
          <p:cNvSpPr/>
          <p:nvPr/>
        </p:nvSpPr>
        <p:spPr>
          <a:xfrm>
            <a:off x="10999887" y="6477000"/>
            <a:ext cx="6875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59" name="Text 28"/>
          <p:cNvSpPr/>
          <p:nvPr/>
        </p:nvSpPr>
        <p:spPr>
          <a:xfrm>
            <a:off x="11784062" y="6477000"/>
            <a:ext cx="1902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525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23975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552700"/>
            <a:ext cx="5486400" cy="9906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733675"/>
            <a:ext cx="114300" cy="1524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800475"/>
            <a:ext cx="228600" cy="2286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2291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5720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49149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8400" y="1295400"/>
            <a:ext cx="5486400" cy="24384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53200" y="1866900"/>
            <a:ext cx="1219200" cy="6096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77200" y="1866900"/>
            <a:ext cx="1219200" cy="6096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10800" y="1866900"/>
            <a:ext cx="1219200" cy="6096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53200" y="3086100"/>
            <a:ext cx="1219200" cy="6096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77200" y="3086100"/>
            <a:ext cx="1219200" cy="6096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210800" y="3086100"/>
            <a:ext cx="1219200" cy="6096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81800" y="2133600"/>
            <a:ext cx="762000" cy="1905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24700" y="2133600"/>
            <a:ext cx="762000" cy="1905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781800" y="2667000"/>
            <a:ext cx="762000" cy="1905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124700" y="2667000"/>
            <a:ext cx="762000" cy="1905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934200" y="2286000"/>
            <a:ext cx="38100" cy="9144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962900" y="2286000"/>
            <a:ext cx="38100" cy="9144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010900" y="2286000"/>
            <a:ext cx="38100" cy="9144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248400" y="3962400"/>
            <a:ext cx="5486400" cy="53340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spc="-54" kern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Dependent Types</a:t>
            </a:r>
            <a:endParaRPr lang="en-US" sz="2700" dirty="0"/>
          </a:p>
        </p:txBody>
      </p:sp>
      <p:sp>
        <p:nvSpPr>
          <p:cNvPr id="28" name="Text 1"/>
          <p:cNvSpPr/>
          <p:nvPr/>
        </p:nvSpPr>
        <p:spPr>
          <a:xfrm>
            <a:off x="762000" y="1295400"/>
            <a:ext cx="65836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C084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Types that depend on values</a:t>
            </a:r>
            <a:endParaRPr lang="en-US" sz="1800" dirty="0"/>
          </a:p>
        </p:txBody>
      </p:sp>
      <p:sp>
        <p:nvSpPr>
          <p:cNvPr id="29" name="Text 2"/>
          <p:cNvSpPr/>
          <p:nvPr/>
        </p:nvSpPr>
        <p:spPr>
          <a:xfrm>
            <a:off x="457200" y="171450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Dependent types blur the traditional distinction between the type level and the term level of a program, allowing types to depend on specific values.</a:t>
            </a:r>
            <a:endParaRPr lang="en-US" sz="1200" dirty="0"/>
          </a:p>
        </p:txBody>
      </p:sp>
      <p:sp>
        <p:nvSpPr>
          <p:cNvPr id="30" name="Text 3"/>
          <p:cNvSpPr/>
          <p:nvPr/>
        </p:nvSpPr>
        <p:spPr>
          <a:xfrm>
            <a:off x="800100" y="2705100"/>
            <a:ext cx="518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This enables extremely precise specifications and compile-time verification of properties that would otherwise require runtime checks or formal proofs.</a:t>
            </a:r>
            <a:endParaRPr lang="en-US" sz="1200" dirty="0"/>
          </a:p>
        </p:txBody>
      </p:sp>
      <p:sp>
        <p:nvSpPr>
          <p:cNvPr id="31" name="Text 4"/>
          <p:cNvSpPr/>
          <p:nvPr/>
        </p:nvSpPr>
        <p:spPr>
          <a:xfrm>
            <a:off x="762000" y="3771900"/>
            <a:ext cx="548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60A5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Benefits</a:t>
            </a:r>
            <a:endParaRPr lang="en-US" sz="1800" dirty="0"/>
          </a:p>
        </p:txBody>
      </p:sp>
      <p:sp>
        <p:nvSpPr>
          <p:cNvPr id="32" name="Text 5"/>
          <p:cNvSpPr/>
          <p:nvPr/>
        </p:nvSpPr>
        <p:spPr>
          <a:xfrm>
            <a:off x="723900" y="4191000"/>
            <a:ext cx="43141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Enhanced safety with compile-time verification</a:t>
            </a:r>
            <a:endParaRPr lang="en-US" sz="1200" dirty="0"/>
          </a:p>
        </p:txBody>
      </p:sp>
      <p:sp>
        <p:nvSpPr>
          <p:cNvPr id="33" name="Text 6"/>
          <p:cNvSpPr/>
          <p:nvPr/>
        </p:nvSpPr>
        <p:spPr>
          <a:xfrm>
            <a:off x="723900" y="4533900"/>
            <a:ext cx="40212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Precise specifications of program properties</a:t>
            </a:r>
            <a:endParaRPr lang="en-US" sz="1200" dirty="0"/>
          </a:p>
        </p:txBody>
      </p:sp>
      <p:sp>
        <p:nvSpPr>
          <p:cNvPr id="34" name="Text 7"/>
          <p:cNvSpPr/>
          <p:nvPr/>
        </p:nvSpPr>
        <p:spPr>
          <a:xfrm>
            <a:off x="723900" y="4876800"/>
            <a:ext cx="34114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Elimination of certain classes of bugs</a:t>
            </a:r>
            <a:endParaRPr lang="en-US" sz="1200" dirty="0"/>
          </a:p>
        </p:txBody>
      </p:sp>
      <p:sp>
        <p:nvSpPr>
          <p:cNvPr id="35" name="Text 8"/>
          <p:cNvSpPr/>
          <p:nvPr/>
        </p:nvSpPr>
        <p:spPr>
          <a:xfrm>
            <a:off x="6400800" y="1447800"/>
            <a:ext cx="62179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0A5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Dependent Types Visualization</a:t>
            </a:r>
            <a:endParaRPr lang="en-US" sz="1500" dirty="0"/>
          </a:p>
        </p:txBody>
      </p:sp>
      <p:sp>
        <p:nvSpPr>
          <p:cNvPr id="36" name="Text 9"/>
          <p:cNvSpPr/>
          <p:nvPr/>
        </p:nvSpPr>
        <p:spPr>
          <a:xfrm>
            <a:off x="6979890" y="2057400"/>
            <a:ext cx="4389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D5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Type</a:t>
            </a:r>
            <a:endParaRPr lang="en-US" sz="1200" dirty="0"/>
          </a:p>
        </p:txBody>
      </p:sp>
      <p:sp>
        <p:nvSpPr>
          <p:cNvPr id="37" name="Text 10"/>
          <p:cNvSpPr/>
          <p:nvPr/>
        </p:nvSpPr>
        <p:spPr>
          <a:xfrm>
            <a:off x="8366671" y="2057400"/>
            <a:ext cx="768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Type(A)</a:t>
            </a:r>
            <a:endParaRPr lang="en-US" sz="1200" dirty="0"/>
          </a:p>
        </p:txBody>
      </p:sp>
      <p:sp>
        <p:nvSpPr>
          <p:cNvPr id="38" name="Text 11"/>
          <p:cNvSpPr/>
          <p:nvPr/>
        </p:nvSpPr>
        <p:spPr>
          <a:xfrm>
            <a:off x="10500271" y="2057400"/>
            <a:ext cx="768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BF7D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Type(B)</a:t>
            </a:r>
            <a:endParaRPr lang="en-US" sz="1200" dirty="0"/>
          </a:p>
        </p:txBody>
      </p:sp>
      <p:sp>
        <p:nvSpPr>
          <p:cNvPr id="39" name="Text 12"/>
          <p:cNvSpPr/>
          <p:nvPr/>
        </p:nvSpPr>
        <p:spPr>
          <a:xfrm>
            <a:off x="6979890" y="3276600"/>
            <a:ext cx="4389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9D5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Term</a:t>
            </a:r>
            <a:endParaRPr lang="en-US" sz="1200" dirty="0"/>
          </a:p>
        </p:txBody>
      </p:sp>
      <p:sp>
        <p:nvSpPr>
          <p:cNvPr id="40" name="Text 13"/>
          <p:cNvSpPr/>
          <p:nvPr/>
        </p:nvSpPr>
        <p:spPr>
          <a:xfrm>
            <a:off x="8366671" y="3276600"/>
            <a:ext cx="768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FDBF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Term(A)</a:t>
            </a:r>
            <a:endParaRPr lang="en-US" sz="1200" dirty="0"/>
          </a:p>
        </p:txBody>
      </p:sp>
      <p:sp>
        <p:nvSpPr>
          <p:cNvPr id="41" name="Text 14"/>
          <p:cNvSpPr/>
          <p:nvPr/>
        </p:nvSpPr>
        <p:spPr>
          <a:xfrm>
            <a:off x="10500271" y="3276600"/>
            <a:ext cx="768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BF7D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Term(B)</a:t>
            </a:r>
            <a:endParaRPr lang="en-US" sz="1200" dirty="0"/>
          </a:p>
        </p:txBody>
      </p:sp>
      <p:sp>
        <p:nvSpPr>
          <p:cNvPr id="42" name="Text 15"/>
          <p:cNvSpPr/>
          <p:nvPr/>
        </p:nvSpPr>
        <p:spPr>
          <a:xfrm>
            <a:off x="6934200" y="1962150"/>
            <a:ext cx="8029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depends on</a:t>
            </a:r>
            <a:endParaRPr lang="en-US" sz="900" dirty="0"/>
          </a:p>
        </p:txBody>
      </p:sp>
      <p:sp>
        <p:nvSpPr>
          <p:cNvPr id="43" name="Text 16"/>
          <p:cNvSpPr/>
          <p:nvPr/>
        </p:nvSpPr>
        <p:spPr>
          <a:xfrm>
            <a:off x="7962900" y="1962150"/>
            <a:ext cx="8029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depends on</a:t>
            </a:r>
            <a:endParaRPr lang="en-US" sz="900" dirty="0"/>
          </a:p>
        </p:txBody>
      </p:sp>
      <p:sp>
        <p:nvSpPr>
          <p:cNvPr id="44" name="Text 17"/>
          <p:cNvSpPr/>
          <p:nvPr/>
        </p:nvSpPr>
        <p:spPr>
          <a:xfrm>
            <a:off x="10379869" y="1962150"/>
            <a:ext cx="8029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depends on</a:t>
            </a:r>
            <a:endParaRPr lang="en-US" sz="900" dirty="0"/>
          </a:p>
        </p:txBody>
      </p:sp>
      <p:sp>
        <p:nvSpPr>
          <p:cNvPr id="45" name="Text 18"/>
          <p:cNvSpPr/>
          <p:nvPr/>
        </p:nvSpPr>
        <p:spPr>
          <a:xfrm>
            <a:off x="6400800" y="4143375"/>
            <a:ext cx="5488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69CD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total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0104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104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76250"/>
            <a:ext cx="277267" cy="3429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52500"/>
            <a:ext cx="1219200" cy="381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323975"/>
            <a:ext cx="200025" cy="2286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7526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0955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24384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2886075"/>
            <a:ext cx="228600" cy="2286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33147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36576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400050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8400" y="1323975"/>
            <a:ext cx="228600" cy="2286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8400" y="1752600"/>
            <a:ext cx="5486400" cy="24384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1905000"/>
            <a:ext cx="5181600" cy="21336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48400" y="4343400"/>
            <a:ext cx="5486400" cy="22098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982646" y="6286500"/>
            <a:ext cx="228600" cy="3048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511135" y="6286500"/>
            <a:ext cx="200025" cy="3048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186368" y="6286500"/>
            <a:ext cx="200025" cy="3048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763375" y="6286500"/>
            <a:ext cx="200025" cy="3048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886867" y="4572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spc="-54" kern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Case Study: Rust (1/2)</a:t>
            </a:r>
            <a:endParaRPr lang="en-US" sz="2700" dirty="0"/>
          </a:p>
        </p:txBody>
      </p:sp>
      <p:sp>
        <p:nvSpPr>
          <p:cNvPr id="23" name="Text 1"/>
          <p:cNvSpPr/>
          <p:nvPr/>
        </p:nvSpPr>
        <p:spPr>
          <a:xfrm>
            <a:off x="733425" y="1295400"/>
            <a:ext cx="65836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818CF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Strong, Static Typing</a:t>
            </a:r>
            <a:endParaRPr lang="en-US" sz="1800" dirty="0"/>
          </a:p>
        </p:txBody>
      </p:sp>
      <p:sp>
        <p:nvSpPr>
          <p:cNvPr id="24" name="Text 2"/>
          <p:cNvSpPr/>
          <p:nvPr/>
        </p:nvSpPr>
        <p:spPr>
          <a:xfrm>
            <a:off x="685800" y="1714500"/>
            <a:ext cx="4106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Types checked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rigorously at compile time</a:t>
            </a:r>
            <a:endParaRPr lang="en-US" sz="1200" dirty="0"/>
          </a:p>
        </p:txBody>
      </p:sp>
      <p:sp>
        <p:nvSpPr>
          <p:cNvPr id="25" name="Text 3"/>
          <p:cNvSpPr/>
          <p:nvPr/>
        </p:nvSpPr>
        <p:spPr>
          <a:xfrm>
            <a:off x="685800" y="2057400"/>
            <a:ext cx="38385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Prevents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runtime errors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by construction</a:t>
            </a:r>
            <a:endParaRPr lang="en-US" sz="1200" dirty="0"/>
          </a:p>
        </p:txBody>
      </p:sp>
      <p:sp>
        <p:nvSpPr>
          <p:cNvPr id="26" name="Text 4"/>
          <p:cNvSpPr/>
          <p:nvPr/>
        </p:nvSpPr>
        <p:spPr>
          <a:xfrm>
            <a:off x="685800" y="2400300"/>
            <a:ext cx="25947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 implicit type conversions</a:t>
            </a:r>
            <a:endParaRPr lang="en-US" sz="1200" dirty="0"/>
          </a:p>
        </p:txBody>
      </p:sp>
      <p:sp>
        <p:nvSpPr>
          <p:cNvPr id="27" name="Text 5"/>
          <p:cNvSpPr/>
          <p:nvPr/>
        </p:nvSpPr>
        <p:spPr>
          <a:xfrm>
            <a:off x="762000" y="2857500"/>
            <a:ext cx="548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818CF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Memory Safety</a:t>
            </a:r>
            <a:endParaRPr lang="en-US" sz="1800" dirty="0"/>
          </a:p>
        </p:txBody>
      </p:sp>
      <p:sp>
        <p:nvSpPr>
          <p:cNvPr id="28" name="Text 6"/>
          <p:cNvSpPr/>
          <p:nvPr/>
        </p:nvSpPr>
        <p:spPr>
          <a:xfrm>
            <a:off x="685800" y="3276600"/>
            <a:ext cx="5423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Guarantees memory safety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without a garbage collector</a:t>
            </a:r>
            <a:endParaRPr lang="en-US" sz="1200" dirty="0"/>
          </a:p>
        </p:txBody>
      </p:sp>
      <p:sp>
        <p:nvSpPr>
          <p:cNvPr id="29" name="Text 7"/>
          <p:cNvSpPr/>
          <p:nvPr/>
        </p:nvSpPr>
        <p:spPr>
          <a:xfrm>
            <a:off x="685800" y="3619500"/>
            <a:ext cx="36343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Eliminates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null pointer dereferences</a:t>
            </a:r>
            <a:endParaRPr lang="en-US" sz="1200" dirty="0"/>
          </a:p>
        </p:txBody>
      </p:sp>
      <p:sp>
        <p:nvSpPr>
          <p:cNvPr id="30" name="Text 8"/>
          <p:cNvSpPr/>
          <p:nvPr/>
        </p:nvSpPr>
        <p:spPr>
          <a:xfrm>
            <a:off x="685800" y="3962400"/>
            <a:ext cx="44301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Prevents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races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and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use-after-free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errors</a:t>
            </a:r>
            <a:endParaRPr lang="en-US" sz="1200" dirty="0"/>
          </a:p>
        </p:txBody>
      </p:sp>
      <p:sp>
        <p:nvSpPr>
          <p:cNvPr id="31" name="Text 9"/>
          <p:cNvSpPr/>
          <p:nvPr/>
        </p:nvSpPr>
        <p:spPr>
          <a:xfrm>
            <a:off x="6553200" y="1295400"/>
            <a:ext cx="65836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818CF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The Ownership System</a:t>
            </a:r>
            <a:endParaRPr lang="en-US" sz="1800" dirty="0"/>
          </a:p>
        </p:txBody>
      </p:sp>
      <p:sp>
        <p:nvSpPr>
          <p:cNvPr id="32" name="Text 10"/>
          <p:cNvSpPr/>
          <p:nvPr/>
        </p:nvSpPr>
        <p:spPr>
          <a:xfrm>
            <a:off x="6400800" y="4514850"/>
            <a:ext cx="19205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18CF8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Ownership example</a:t>
            </a:r>
            <a:endParaRPr lang="en-US" sz="1050" dirty="0"/>
          </a:p>
        </p:txBody>
      </p:sp>
      <p:sp>
        <p:nvSpPr>
          <p:cNvPr id="33" name="Text 11"/>
          <p:cNvSpPr/>
          <p:nvPr/>
        </p:nvSpPr>
        <p:spPr>
          <a:xfrm>
            <a:off x="6400800" y="4705350"/>
            <a:ext cx="19216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fn</a:t>
            </a:r>
            <a:endParaRPr lang="en-US" sz="1050" dirty="0"/>
          </a:p>
        </p:txBody>
      </p:sp>
      <p:sp>
        <p:nvSpPr>
          <p:cNvPr id="34" name="Text 12"/>
          <p:cNvSpPr/>
          <p:nvPr/>
        </p:nvSpPr>
        <p:spPr>
          <a:xfrm>
            <a:off x="6641009" y="4705350"/>
            <a:ext cx="3841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main</a:t>
            </a:r>
            <a:endParaRPr lang="en-US" sz="1050" dirty="0"/>
          </a:p>
        </p:txBody>
      </p:sp>
      <p:sp>
        <p:nvSpPr>
          <p:cNvPr id="35" name="Text 13"/>
          <p:cNvSpPr/>
          <p:nvPr/>
        </p:nvSpPr>
        <p:spPr>
          <a:xfrm>
            <a:off x="6961138" y="4705350"/>
            <a:ext cx="10565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() {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</a:t>
            </a:r>
            <a:endParaRPr lang="en-US" sz="1050" dirty="0"/>
          </a:p>
        </p:txBody>
      </p:sp>
      <p:sp>
        <p:nvSpPr>
          <p:cNvPr id="36" name="Text 14"/>
          <p:cNvSpPr/>
          <p:nvPr/>
        </p:nvSpPr>
        <p:spPr>
          <a:xfrm>
            <a:off x="6720929" y="4895850"/>
            <a:ext cx="288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let</a:t>
            </a:r>
            <a:endParaRPr lang="en-US" sz="1050" dirty="0"/>
          </a:p>
        </p:txBody>
      </p:sp>
      <p:sp>
        <p:nvSpPr>
          <p:cNvPr id="37" name="Text 15"/>
          <p:cNvSpPr/>
          <p:nvPr/>
        </p:nvSpPr>
        <p:spPr>
          <a:xfrm>
            <a:off x="6961138" y="4895850"/>
            <a:ext cx="5763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s1 = </a:t>
            </a:r>
            <a:endParaRPr lang="en-US" sz="1050" dirty="0"/>
          </a:p>
        </p:txBody>
      </p:sp>
      <p:sp>
        <p:nvSpPr>
          <p:cNvPr id="38" name="Text 16"/>
          <p:cNvSpPr/>
          <p:nvPr/>
        </p:nvSpPr>
        <p:spPr>
          <a:xfrm>
            <a:off x="7441406" y="4895850"/>
            <a:ext cx="1152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String::from</a:t>
            </a:r>
            <a:endParaRPr lang="en-US" sz="1050" dirty="0"/>
          </a:p>
        </p:txBody>
      </p:sp>
      <p:sp>
        <p:nvSpPr>
          <p:cNvPr id="39" name="Text 17"/>
          <p:cNvSpPr/>
          <p:nvPr/>
        </p:nvSpPr>
        <p:spPr>
          <a:xfrm>
            <a:off x="8401794" y="4895850"/>
            <a:ext cx="960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050" dirty="0"/>
          </a:p>
        </p:txBody>
      </p:sp>
      <p:sp>
        <p:nvSpPr>
          <p:cNvPr id="40" name="Text 18"/>
          <p:cNvSpPr/>
          <p:nvPr/>
        </p:nvSpPr>
        <p:spPr>
          <a:xfrm>
            <a:off x="8481864" y="4895850"/>
            <a:ext cx="6722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B923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"hello"</a:t>
            </a:r>
            <a:endParaRPr lang="en-US" sz="1050" dirty="0"/>
          </a:p>
        </p:txBody>
      </p:sp>
      <p:sp>
        <p:nvSpPr>
          <p:cNvPr id="41" name="Text 19"/>
          <p:cNvSpPr/>
          <p:nvPr/>
        </p:nvSpPr>
        <p:spPr>
          <a:xfrm>
            <a:off x="9042053" y="4895850"/>
            <a:ext cx="288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); </a:t>
            </a:r>
            <a:endParaRPr lang="en-US" sz="1050" dirty="0"/>
          </a:p>
        </p:txBody>
      </p:sp>
      <p:sp>
        <p:nvSpPr>
          <p:cNvPr id="42" name="Text 20"/>
          <p:cNvSpPr/>
          <p:nvPr/>
        </p:nvSpPr>
        <p:spPr>
          <a:xfrm>
            <a:off x="9282261" y="4895850"/>
            <a:ext cx="18246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s1 owns the data</a:t>
            </a:r>
            <a:endParaRPr lang="en-US" sz="1050" dirty="0"/>
          </a:p>
        </p:txBody>
      </p:sp>
      <p:sp>
        <p:nvSpPr>
          <p:cNvPr id="43" name="Text 21"/>
          <p:cNvSpPr/>
          <p:nvPr/>
        </p:nvSpPr>
        <p:spPr>
          <a:xfrm>
            <a:off x="6720929" y="5276850"/>
            <a:ext cx="288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let</a:t>
            </a:r>
            <a:endParaRPr lang="en-US" sz="1050" dirty="0"/>
          </a:p>
        </p:txBody>
      </p:sp>
      <p:sp>
        <p:nvSpPr>
          <p:cNvPr id="44" name="Text 22"/>
          <p:cNvSpPr/>
          <p:nvPr/>
        </p:nvSpPr>
        <p:spPr>
          <a:xfrm>
            <a:off x="6961138" y="5276850"/>
            <a:ext cx="9602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s2 = s1; </a:t>
            </a:r>
            <a:endParaRPr lang="en-US" sz="1050" dirty="0"/>
          </a:p>
        </p:txBody>
      </p:sp>
      <p:sp>
        <p:nvSpPr>
          <p:cNvPr id="45" name="Text 23"/>
          <p:cNvSpPr/>
          <p:nvPr/>
        </p:nvSpPr>
        <p:spPr>
          <a:xfrm>
            <a:off x="7761387" y="5276850"/>
            <a:ext cx="23047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Ownership transferred</a:t>
            </a:r>
            <a:endParaRPr lang="en-US" sz="1050" dirty="0"/>
          </a:p>
        </p:txBody>
      </p:sp>
      <p:sp>
        <p:nvSpPr>
          <p:cNvPr id="46" name="Text 24"/>
          <p:cNvSpPr/>
          <p:nvPr/>
        </p:nvSpPr>
        <p:spPr>
          <a:xfrm>
            <a:off x="6720929" y="5657850"/>
            <a:ext cx="7683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println!</a:t>
            </a:r>
            <a:endParaRPr lang="en-US" sz="1050" dirty="0"/>
          </a:p>
        </p:txBody>
      </p:sp>
      <p:sp>
        <p:nvSpPr>
          <p:cNvPr id="47" name="Text 25"/>
          <p:cNvSpPr/>
          <p:nvPr/>
        </p:nvSpPr>
        <p:spPr>
          <a:xfrm>
            <a:off x="7361188" y="5657850"/>
            <a:ext cx="960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050" dirty="0"/>
          </a:p>
        </p:txBody>
      </p:sp>
      <p:sp>
        <p:nvSpPr>
          <p:cNvPr id="48" name="Text 26"/>
          <p:cNvSpPr/>
          <p:nvPr/>
        </p:nvSpPr>
        <p:spPr>
          <a:xfrm>
            <a:off x="7441257" y="5657850"/>
            <a:ext cx="3841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B923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"{}"</a:t>
            </a:r>
            <a:endParaRPr lang="en-US" sz="1050" dirty="0"/>
          </a:p>
        </p:txBody>
      </p:sp>
      <p:sp>
        <p:nvSpPr>
          <p:cNvPr id="49" name="Text 27"/>
          <p:cNvSpPr/>
          <p:nvPr/>
        </p:nvSpPr>
        <p:spPr>
          <a:xfrm>
            <a:off x="7761387" y="5657850"/>
            <a:ext cx="6722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 s2); </a:t>
            </a:r>
            <a:endParaRPr lang="en-US" sz="1050" dirty="0"/>
          </a:p>
        </p:txBody>
      </p:sp>
      <p:sp>
        <p:nvSpPr>
          <p:cNvPr id="50" name="Text 28"/>
          <p:cNvSpPr/>
          <p:nvPr/>
        </p:nvSpPr>
        <p:spPr>
          <a:xfrm>
            <a:off x="8321576" y="5657850"/>
            <a:ext cx="7683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Valid</a:t>
            </a:r>
            <a:endParaRPr lang="en-US" sz="1050" dirty="0"/>
          </a:p>
        </p:txBody>
      </p:sp>
      <p:sp>
        <p:nvSpPr>
          <p:cNvPr id="51" name="Text 29"/>
          <p:cNvSpPr/>
          <p:nvPr/>
        </p:nvSpPr>
        <p:spPr>
          <a:xfrm>
            <a:off x="6720929" y="6038850"/>
            <a:ext cx="7683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println!</a:t>
            </a:r>
            <a:endParaRPr lang="en-US" sz="1050" dirty="0"/>
          </a:p>
        </p:txBody>
      </p:sp>
      <p:sp>
        <p:nvSpPr>
          <p:cNvPr id="52" name="Text 30"/>
          <p:cNvSpPr/>
          <p:nvPr/>
        </p:nvSpPr>
        <p:spPr>
          <a:xfrm>
            <a:off x="7361188" y="6038850"/>
            <a:ext cx="960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1050" dirty="0"/>
          </a:p>
        </p:txBody>
      </p:sp>
      <p:sp>
        <p:nvSpPr>
          <p:cNvPr id="53" name="Text 31"/>
          <p:cNvSpPr/>
          <p:nvPr/>
        </p:nvSpPr>
        <p:spPr>
          <a:xfrm>
            <a:off x="7441257" y="6038850"/>
            <a:ext cx="3841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B923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"{}"</a:t>
            </a:r>
            <a:endParaRPr lang="en-US" sz="1050" dirty="0"/>
          </a:p>
        </p:txBody>
      </p:sp>
      <p:sp>
        <p:nvSpPr>
          <p:cNvPr id="54" name="Text 32"/>
          <p:cNvSpPr/>
          <p:nvPr/>
        </p:nvSpPr>
        <p:spPr>
          <a:xfrm>
            <a:off x="7761387" y="6038850"/>
            <a:ext cx="6722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 s1); </a:t>
            </a:r>
            <a:endParaRPr lang="en-US" sz="1050" dirty="0"/>
          </a:p>
        </p:txBody>
      </p:sp>
      <p:sp>
        <p:nvSpPr>
          <p:cNvPr id="55" name="Text 33"/>
          <p:cNvSpPr/>
          <p:nvPr/>
        </p:nvSpPr>
        <p:spPr>
          <a:xfrm>
            <a:off x="8321576" y="6038850"/>
            <a:ext cx="20166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Compile-time ERROR</a:t>
            </a:r>
            <a:endParaRPr lang="en-US" sz="1050" dirty="0"/>
          </a:p>
        </p:txBody>
      </p:sp>
      <p:sp>
        <p:nvSpPr>
          <p:cNvPr id="56" name="Text 34"/>
          <p:cNvSpPr/>
          <p:nvPr/>
        </p:nvSpPr>
        <p:spPr>
          <a:xfrm>
            <a:off x="10002143" y="6229350"/>
            <a:ext cx="960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1050" dirty="0"/>
          </a:p>
        </p:txBody>
      </p:sp>
      <p:sp>
        <p:nvSpPr>
          <p:cNvPr id="57" name="Text 35"/>
          <p:cNvSpPr/>
          <p:nvPr/>
        </p:nvSpPr>
        <p:spPr>
          <a:xfrm>
            <a:off x="9971336" y="6629400"/>
            <a:ext cx="3014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Rust</a:t>
            </a:r>
            <a:endParaRPr lang="en-US" sz="900" dirty="0"/>
          </a:p>
        </p:txBody>
      </p:sp>
      <p:sp>
        <p:nvSpPr>
          <p:cNvPr id="58" name="Text 36"/>
          <p:cNvSpPr/>
          <p:nvPr/>
        </p:nvSpPr>
        <p:spPr>
          <a:xfrm>
            <a:off x="10413057" y="6629400"/>
            <a:ext cx="4755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Python</a:t>
            </a:r>
            <a:endParaRPr lang="en-US" sz="900" dirty="0"/>
          </a:p>
        </p:txBody>
      </p:sp>
      <p:sp>
        <p:nvSpPr>
          <p:cNvPr id="59" name="Text 37"/>
          <p:cNvSpPr/>
          <p:nvPr/>
        </p:nvSpPr>
        <p:spPr>
          <a:xfrm>
            <a:off x="10999887" y="6629400"/>
            <a:ext cx="6875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60" name="Text 38"/>
          <p:cNvSpPr/>
          <p:nvPr/>
        </p:nvSpPr>
        <p:spPr>
          <a:xfrm>
            <a:off x="11784062" y="6629400"/>
            <a:ext cx="1902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Go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44855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44855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525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95400"/>
            <a:ext cx="5486400" cy="42291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459" y="2362200"/>
            <a:ext cx="3342084" cy="2667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459" y="3962400"/>
            <a:ext cx="4062264" cy="2667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5753100"/>
            <a:ext cx="5486400" cy="12192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00" y="1295400"/>
            <a:ext cx="5486400" cy="11811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1943100"/>
            <a:ext cx="304800" cy="3048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3200" y="2019300"/>
            <a:ext cx="152400" cy="152400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spc="-54" kern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Case Study: Rust (2/2)</a:t>
            </a:r>
            <a:endParaRPr lang="en-US" sz="2700" dirty="0"/>
          </a:p>
        </p:txBody>
      </p:sp>
      <p:sp>
        <p:nvSpPr>
          <p:cNvPr id="13" name="Text 1"/>
          <p:cNvSpPr/>
          <p:nvPr/>
        </p:nvSpPr>
        <p:spPr>
          <a:xfrm>
            <a:off x="685800" y="15240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Rust Ownership Example</a:t>
            </a:r>
            <a:endParaRPr lang="en-US" sz="1200" dirty="0"/>
          </a:p>
        </p:txBody>
      </p:sp>
      <p:sp>
        <p:nvSpPr>
          <p:cNvPr id="14" name="Text 2"/>
          <p:cNvSpPr/>
          <p:nvPr/>
        </p:nvSpPr>
        <p:spPr>
          <a:xfrm>
            <a:off x="685800" y="1866900"/>
            <a:ext cx="24699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fn</a:t>
            </a:r>
            <a:endParaRPr lang="en-US" sz="1350" dirty="0"/>
          </a:p>
        </p:txBody>
      </p:sp>
      <p:sp>
        <p:nvSpPr>
          <p:cNvPr id="15" name="Text 3"/>
          <p:cNvSpPr/>
          <p:nvPr/>
        </p:nvSpPr>
        <p:spPr>
          <a:xfrm>
            <a:off x="994618" y="1866900"/>
            <a:ext cx="4939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main</a:t>
            </a:r>
            <a:endParaRPr lang="en-US" sz="1350" dirty="0"/>
          </a:p>
        </p:txBody>
      </p:sp>
      <p:sp>
        <p:nvSpPr>
          <p:cNvPr id="16" name="Text 4"/>
          <p:cNvSpPr/>
          <p:nvPr/>
        </p:nvSpPr>
        <p:spPr>
          <a:xfrm>
            <a:off x="1406277" y="1866900"/>
            <a:ext cx="13585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() {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</a:t>
            </a:r>
            <a:endParaRPr lang="en-US" sz="1350" dirty="0"/>
          </a:p>
        </p:txBody>
      </p:sp>
      <p:sp>
        <p:nvSpPr>
          <p:cNvPr id="17" name="Text 5"/>
          <p:cNvSpPr/>
          <p:nvPr/>
        </p:nvSpPr>
        <p:spPr>
          <a:xfrm>
            <a:off x="1097459" y="2133600"/>
            <a:ext cx="32102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ADE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s1 owns the string data</a:t>
            </a:r>
            <a:endParaRPr lang="en-US" sz="1350" dirty="0"/>
          </a:p>
        </p:txBody>
      </p:sp>
      <p:sp>
        <p:nvSpPr>
          <p:cNvPr id="18" name="Text 6"/>
          <p:cNvSpPr/>
          <p:nvPr/>
        </p:nvSpPr>
        <p:spPr>
          <a:xfrm>
            <a:off x="1249859" y="2362200"/>
            <a:ext cx="40105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let s1 = String::from(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DE04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"hello"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);</a:t>
            </a:r>
            <a:endParaRPr lang="en-US" sz="1350" dirty="0"/>
          </a:p>
        </p:txBody>
      </p:sp>
      <p:sp>
        <p:nvSpPr>
          <p:cNvPr id="19" name="Text 7"/>
          <p:cNvSpPr/>
          <p:nvPr/>
        </p:nvSpPr>
        <p:spPr>
          <a:xfrm>
            <a:off x="1097459" y="2933700"/>
            <a:ext cx="66670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ADE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Ownership of the string data is moved from s1 to s2</a:t>
            </a:r>
            <a:endParaRPr lang="en-US" sz="1350" dirty="0"/>
          </a:p>
        </p:txBody>
      </p:sp>
      <p:sp>
        <p:nvSpPr>
          <p:cNvPr id="20" name="Text 8"/>
          <p:cNvSpPr/>
          <p:nvPr/>
        </p:nvSpPr>
        <p:spPr>
          <a:xfrm>
            <a:off x="1278434" y="3162300"/>
            <a:ext cx="16987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highlight>
                  <a:srgbClr val="4F46E5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let s2 = s1;</a:t>
            </a:r>
            <a:endParaRPr lang="en-US" sz="1350" dirty="0"/>
          </a:p>
        </p:txBody>
      </p:sp>
      <p:sp>
        <p:nvSpPr>
          <p:cNvPr id="21" name="Text 9"/>
          <p:cNvSpPr/>
          <p:nvPr/>
        </p:nvSpPr>
        <p:spPr>
          <a:xfrm>
            <a:off x="1097459" y="3733800"/>
            <a:ext cx="28398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ADE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s2 now owns the data</a:t>
            </a:r>
            <a:endParaRPr lang="en-US" sz="1350" dirty="0"/>
          </a:p>
        </p:txBody>
      </p:sp>
      <p:sp>
        <p:nvSpPr>
          <p:cNvPr id="22" name="Text 10"/>
          <p:cNvSpPr/>
          <p:nvPr/>
        </p:nvSpPr>
        <p:spPr>
          <a:xfrm>
            <a:off x="1249859" y="3962400"/>
            <a:ext cx="48747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println!("{}", s2);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Output: "hello"</a:t>
            </a:r>
            <a:endParaRPr lang="en-US" sz="1350" dirty="0"/>
          </a:p>
        </p:txBody>
      </p:sp>
      <p:sp>
        <p:nvSpPr>
          <p:cNvPr id="23" name="Text 11"/>
          <p:cNvSpPr/>
          <p:nvPr/>
        </p:nvSpPr>
        <p:spPr>
          <a:xfrm>
            <a:off x="1097459" y="4533900"/>
            <a:ext cx="70374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F444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Error: s1 is no longer valid after ownership was moved</a:t>
            </a:r>
            <a:endParaRPr lang="en-US" sz="1350" dirty="0"/>
          </a:p>
        </p:txBody>
      </p:sp>
      <p:sp>
        <p:nvSpPr>
          <p:cNvPr id="24" name="Text 12"/>
          <p:cNvSpPr/>
          <p:nvPr/>
        </p:nvSpPr>
        <p:spPr>
          <a:xfrm>
            <a:off x="1097459" y="4800600"/>
            <a:ext cx="5432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println!("{}", s1); // COMPILE-TIME ERROR</a:t>
            </a:r>
            <a:endParaRPr lang="en-US" sz="1350" dirty="0"/>
          </a:p>
        </p:txBody>
      </p:sp>
      <p:sp>
        <p:nvSpPr>
          <p:cNvPr id="25" name="Text 13"/>
          <p:cNvSpPr/>
          <p:nvPr/>
        </p:nvSpPr>
        <p:spPr>
          <a:xfrm>
            <a:off x="5624513" y="5067300"/>
            <a:ext cx="1235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1350" dirty="0"/>
          </a:p>
        </p:txBody>
      </p:sp>
      <p:sp>
        <p:nvSpPr>
          <p:cNvPr id="26" name="Text 14"/>
          <p:cNvSpPr/>
          <p:nvPr/>
        </p:nvSpPr>
        <p:spPr>
          <a:xfrm>
            <a:off x="609600" y="5905500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818CF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Ownership Flow</a:t>
            </a:r>
            <a:endParaRPr lang="en-US" sz="1350" dirty="0"/>
          </a:p>
        </p:txBody>
      </p:sp>
      <p:sp>
        <p:nvSpPr>
          <p:cNvPr id="27" name="Text 15"/>
          <p:cNvSpPr/>
          <p:nvPr/>
        </p:nvSpPr>
        <p:spPr>
          <a:xfrm>
            <a:off x="6477000" y="1524000"/>
            <a:ext cx="60350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18CF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Points About Rust's Ownership</a:t>
            </a:r>
            <a:endParaRPr lang="en-US" sz="1500" dirty="0"/>
          </a:p>
        </p:txBody>
      </p:sp>
      <p:sp>
        <p:nvSpPr>
          <p:cNvPr id="28" name="Text 16"/>
          <p:cNvSpPr/>
          <p:nvPr/>
        </p:nvSpPr>
        <p:spPr>
          <a:xfrm>
            <a:off x="6896100" y="1943100"/>
            <a:ext cx="263738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A5B4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Move Semantics: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When 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81153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1153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525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95400"/>
            <a:ext cx="11277600" cy="23241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524000"/>
            <a:ext cx="533400" cy="5334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913" y="1638300"/>
            <a:ext cx="257175" cy="3048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" y="3048000"/>
            <a:ext cx="1989237" cy="3429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13237" y="3048000"/>
            <a:ext cx="2149227" cy="3429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3848100"/>
            <a:ext cx="11277600" cy="22479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4076700"/>
            <a:ext cx="533400" cy="5334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3913" y="4191000"/>
            <a:ext cx="257175" cy="3048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71600" y="5334000"/>
            <a:ext cx="2254597" cy="5334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78597" y="5334000"/>
            <a:ext cx="2254597" cy="5334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6324600"/>
            <a:ext cx="11277600" cy="13335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6553200"/>
            <a:ext cx="533400" cy="5334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3913" y="6667500"/>
            <a:ext cx="257175" cy="3048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71600" y="7258050"/>
            <a:ext cx="114300" cy="1524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106025" y="7391400"/>
            <a:ext cx="171450" cy="3048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601176" y="7391400"/>
            <a:ext cx="200025" cy="3048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628983" y="7391400"/>
            <a:ext cx="257175" cy="3048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spc="-54" kern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Exercises</a:t>
            </a:r>
            <a:endParaRPr lang="en-US" sz="2700" dirty="0"/>
          </a:p>
        </p:txBody>
      </p:sp>
      <p:sp>
        <p:nvSpPr>
          <p:cNvPr id="23" name="Text 1"/>
          <p:cNvSpPr/>
          <p:nvPr/>
        </p:nvSpPr>
        <p:spPr>
          <a:xfrm>
            <a:off x="1371600" y="1524000"/>
            <a:ext cx="64508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0A5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Compare Static vs Dynamic Typing</a:t>
            </a:r>
            <a:endParaRPr lang="en-US" sz="1500" dirty="0"/>
          </a:p>
        </p:txBody>
      </p:sp>
      <p:sp>
        <p:nvSpPr>
          <p:cNvPr id="24" name="Text 2"/>
          <p:cNvSpPr/>
          <p:nvPr/>
        </p:nvSpPr>
        <p:spPr>
          <a:xfrm>
            <a:off x="1371600" y="1866900"/>
            <a:ext cx="64508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Using Java and Python as examples, discuss the trade-offs in terms of:</a:t>
            </a:r>
            <a:endParaRPr lang="en-US" sz="1200" dirty="0"/>
          </a:p>
        </p:txBody>
      </p:sp>
      <p:sp>
        <p:nvSpPr>
          <p:cNvPr id="25" name="Text 3"/>
          <p:cNvSpPr/>
          <p:nvPr/>
        </p:nvSpPr>
        <p:spPr>
          <a:xfrm>
            <a:off x="1543050" y="2171700"/>
            <a:ext cx="64965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Development speed and productivity</a:t>
            </a:r>
            <a:endParaRPr lang="en-US" sz="1200" dirty="0"/>
          </a:p>
        </p:txBody>
      </p:sp>
      <p:sp>
        <p:nvSpPr>
          <p:cNvPr id="26" name="Text 4"/>
          <p:cNvSpPr/>
          <p:nvPr/>
        </p:nvSpPr>
        <p:spPr>
          <a:xfrm>
            <a:off x="1543050" y="2438400"/>
            <a:ext cx="64965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Runtime safety and error detection</a:t>
            </a:r>
            <a:endParaRPr lang="en-US" sz="1200" dirty="0"/>
          </a:p>
        </p:txBody>
      </p:sp>
      <p:sp>
        <p:nvSpPr>
          <p:cNvPr id="27" name="Text 5"/>
          <p:cNvSpPr/>
          <p:nvPr/>
        </p:nvSpPr>
        <p:spPr>
          <a:xfrm>
            <a:off x="1543050" y="2705100"/>
            <a:ext cx="54137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Performance characteristics</a:t>
            </a:r>
            <a:endParaRPr lang="en-US" sz="1200" dirty="0"/>
          </a:p>
        </p:txBody>
      </p:sp>
      <p:sp>
        <p:nvSpPr>
          <p:cNvPr id="28" name="Text 6"/>
          <p:cNvSpPr/>
          <p:nvPr/>
        </p:nvSpPr>
        <p:spPr>
          <a:xfrm>
            <a:off x="1485900" y="3048000"/>
            <a:ext cx="23870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10; /* Java */</a:t>
            </a:r>
            <a:endParaRPr lang="en-US" sz="1050" dirty="0"/>
          </a:p>
        </p:txBody>
      </p:sp>
      <p:sp>
        <p:nvSpPr>
          <p:cNvPr id="29" name="Text 7"/>
          <p:cNvSpPr/>
          <p:nvPr/>
        </p:nvSpPr>
        <p:spPr>
          <a:xfrm>
            <a:off x="3627537" y="3048000"/>
            <a:ext cx="25790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"hello" /* Python */</a:t>
            </a:r>
            <a:endParaRPr lang="en-US" sz="1050" dirty="0"/>
          </a:p>
        </p:txBody>
      </p:sp>
      <p:sp>
        <p:nvSpPr>
          <p:cNvPr id="30" name="Text 8"/>
          <p:cNvSpPr/>
          <p:nvPr/>
        </p:nvSpPr>
        <p:spPr>
          <a:xfrm>
            <a:off x="1371600" y="4076700"/>
            <a:ext cx="64934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Demonstrate Polymorphism</a:t>
            </a:r>
            <a:endParaRPr lang="en-US" sz="1500" dirty="0"/>
          </a:p>
        </p:txBody>
      </p:sp>
      <p:sp>
        <p:nvSpPr>
          <p:cNvPr id="31" name="Text 9"/>
          <p:cNvSpPr/>
          <p:nvPr/>
        </p:nvSpPr>
        <p:spPr>
          <a:xfrm>
            <a:off x="1371600" y="4419600"/>
            <a:ext cx="64934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Provide code snippets for C++ and Haskell illustrating:</a:t>
            </a:r>
            <a:endParaRPr lang="en-US" sz="1200" dirty="0"/>
          </a:p>
        </p:txBody>
      </p:sp>
      <p:sp>
        <p:nvSpPr>
          <p:cNvPr id="32" name="Text 10"/>
          <p:cNvSpPr/>
          <p:nvPr/>
        </p:nvSpPr>
        <p:spPr>
          <a:xfrm>
            <a:off x="1543050" y="4724400"/>
            <a:ext cx="65392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Parametric polymorphism (generics)</a:t>
            </a:r>
            <a:endParaRPr lang="en-US" sz="1200" dirty="0"/>
          </a:p>
        </p:txBody>
      </p:sp>
      <p:sp>
        <p:nvSpPr>
          <p:cNvPr id="33" name="Text 11"/>
          <p:cNvSpPr/>
          <p:nvPr/>
        </p:nvSpPr>
        <p:spPr>
          <a:xfrm>
            <a:off x="1543050" y="4991100"/>
            <a:ext cx="65392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Ad-hoc polymorphism (overloading)</a:t>
            </a:r>
            <a:endParaRPr lang="en-US" sz="1200" dirty="0"/>
          </a:p>
        </p:txBody>
      </p:sp>
      <p:sp>
        <p:nvSpPr>
          <p:cNvPr id="34" name="Text 12"/>
          <p:cNvSpPr/>
          <p:nvPr/>
        </p:nvSpPr>
        <p:spPr>
          <a:xfrm>
            <a:off x="1485900" y="5334000"/>
            <a:ext cx="270551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Box&lt;T&gt; { T value; }</a:t>
            </a:r>
            <a:endParaRPr lang="en-US" sz="1050" dirty="0"/>
          </a:p>
        </p:txBody>
      </p:sp>
      <p:sp>
        <p:nvSpPr>
          <p:cNvPr id="35" name="Text 13"/>
          <p:cNvSpPr/>
          <p:nvPr/>
        </p:nvSpPr>
        <p:spPr>
          <a:xfrm>
            <a:off x="3892897" y="5334000"/>
            <a:ext cx="225459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add(int a, int b) { return a + b; }</a:t>
            </a:r>
            <a:endParaRPr lang="en-US" sz="1050" dirty="0"/>
          </a:p>
        </p:txBody>
      </p:sp>
      <p:sp>
        <p:nvSpPr>
          <p:cNvPr id="36" name="Text 14"/>
          <p:cNvSpPr/>
          <p:nvPr/>
        </p:nvSpPr>
        <p:spPr>
          <a:xfrm>
            <a:off x="1371600" y="6553200"/>
            <a:ext cx="95498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ADE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Research Question</a:t>
            </a:r>
            <a:endParaRPr lang="en-US" sz="1500" dirty="0"/>
          </a:p>
        </p:txBody>
      </p:sp>
      <p:sp>
        <p:nvSpPr>
          <p:cNvPr id="37" name="Text 15"/>
          <p:cNvSpPr/>
          <p:nvPr/>
        </p:nvSpPr>
        <p:spPr>
          <a:xfrm>
            <a:off x="1371600" y="6896100"/>
            <a:ext cx="11459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Why are dependent types important in proving correctness of programs, particularly in safety-critical systems?</a:t>
            </a:r>
            <a:endParaRPr lang="en-US" sz="1200" dirty="0"/>
          </a:p>
        </p:txBody>
      </p:sp>
      <p:sp>
        <p:nvSpPr>
          <p:cNvPr id="38" name="Text 16"/>
          <p:cNvSpPr/>
          <p:nvPr/>
        </p:nvSpPr>
        <p:spPr>
          <a:xfrm>
            <a:off x="1562100" y="7239000"/>
            <a:ext cx="11231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Consider how dependent types enable compile-time verification of properties that would otherwise require runtime checks or formal proofs.</a:t>
            </a:r>
            <a:endParaRPr lang="en-US" sz="1050" dirty="0"/>
          </a:p>
        </p:txBody>
      </p:sp>
      <p:sp>
        <p:nvSpPr>
          <p:cNvPr id="39" name="Text 17"/>
          <p:cNvSpPr/>
          <p:nvPr/>
        </p:nvSpPr>
        <p:spPr>
          <a:xfrm>
            <a:off x="0" y="7467600"/>
            <a:ext cx="1219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Submit your solutions as a single PDF document by the deadline</a:t>
            </a:r>
            <a:endParaRPr lang="en-US" sz="1050" dirty="0"/>
          </a:p>
        </p:txBody>
      </p:sp>
      <p:sp>
        <p:nvSpPr>
          <p:cNvPr id="40" name="Text 18"/>
          <p:cNvSpPr/>
          <p:nvPr/>
        </p:nvSpPr>
        <p:spPr>
          <a:xfrm>
            <a:off x="10071050" y="7734300"/>
            <a:ext cx="2898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Java</a:t>
            </a:r>
            <a:endParaRPr lang="en-US" sz="900" dirty="0"/>
          </a:p>
        </p:txBody>
      </p:sp>
      <p:sp>
        <p:nvSpPr>
          <p:cNvPr id="41" name="Text 19"/>
          <p:cNvSpPr/>
          <p:nvPr/>
        </p:nvSpPr>
        <p:spPr>
          <a:xfrm>
            <a:off x="10503098" y="7734300"/>
            <a:ext cx="4755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Python</a:t>
            </a:r>
            <a:endParaRPr lang="en-US" sz="900" dirty="0"/>
          </a:p>
        </p:txBody>
      </p:sp>
      <p:sp>
        <p:nvSpPr>
          <p:cNvPr id="42" name="Text 20"/>
          <p:cNvSpPr/>
          <p:nvPr/>
        </p:nvSpPr>
        <p:spPr>
          <a:xfrm>
            <a:off x="11089928" y="7429500"/>
            <a:ext cx="3257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C++</a:t>
            </a:r>
            <a:endParaRPr lang="en-US" sz="900" dirty="0"/>
          </a:p>
        </p:txBody>
      </p:sp>
      <p:sp>
        <p:nvSpPr>
          <p:cNvPr id="43" name="Text 21"/>
          <p:cNvSpPr/>
          <p:nvPr/>
        </p:nvSpPr>
        <p:spPr>
          <a:xfrm>
            <a:off x="11551890" y="7734300"/>
            <a:ext cx="4938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Haskell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2025-10-01T22:39:23Z</dcterms:created>
  <dcterms:modified xsi:type="dcterms:W3CDTF">2025-10-01T22:39:23Z</dcterms:modified>
</cp:coreProperties>
</file>