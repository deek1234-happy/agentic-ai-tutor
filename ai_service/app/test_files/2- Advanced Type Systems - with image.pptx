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50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11.png"/><Relationship Id="rId3" Type="http://schemas.openxmlformats.org/officeDocument/2006/relationships/image" Target="../media/image1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16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1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15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59.png"/><Relationship Id="rId3" Type="http://schemas.openxmlformats.org/officeDocument/2006/relationships/image" Target="../media/image1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5" Type="http://schemas.openxmlformats.org/officeDocument/2006/relationships/image" Target="../media/image16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15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16.png"/><Relationship Id="rId15" Type="http://schemas.openxmlformats.org/officeDocument/2006/relationships/image" Target="../media/image59.png"/><Relationship Id="rId10" Type="http://schemas.openxmlformats.org/officeDocument/2006/relationships/image" Target="../media/image86.png"/><Relationship Id="rId4" Type="http://schemas.openxmlformats.org/officeDocument/2006/relationships/image" Target="../media/image81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16.png"/><Relationship Id="rId10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1.png"/><Relationship Id="rId26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24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76.png"/><Relationship Id="rId25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0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24" Type="http://schemas.openxmlformats.org/officeDocument/2006/relationships/image" Target="../media/image59.png"/><Relationship Id="rId5" Type="http://schemas.openxmlformats.org/officeDocument/2006/relationships/image" Target="../media/image102.png"/><Relationship Id="rId15" Type="http://schemas.openxmlformats.org/officeDocument/2006/relationships/image" Target="../media/image119.png"/><Relationship Id="rId23" Type="http://schemas.openxmlformats.org/officeDocument/2006/relationships/image" Target="../media/image126.png"/><Relationship Id="rId10" Type="http://schemas.openxmlformats.org/officeDocument/2006/relationships/image" Target="../media/image114.png"/><Relationship Id="rId19" Type="http://schemas.openxmlformats.org/officeDocument/2006/relationships/image" Target="../media/image122.png"/><Relationship Id="rId4" Type="http://schemas.openxmlformats.org/officeDocument/2006/relationships/image" Target="../media/image15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5.png"/><Relationship Id="rId27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.png"/><Relationship Id="rId21" Type="http://schemas.openxmlformats.org/officeDocument/2006/relationships/image" Target="../media/image142.png"/><Relationship Id="rId7" Type="http://schemas.openxmlformats.org/officeDocument/2006/relationships/image" Target="../media/image129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11" Type="http://schemas.openxmlformats.org/officeDocument/2006/relationships/image" Target="../media/image132.png"/><Relationship Id="rId24" Type="http://schemas.openxmlformats.org/officeDocument/2006/relationships/image" Target="../media/image145.png"/><Relationship Id="rId5" Type="http://schemas.openxmlformats.org/officeDocument/2006/relationships/image" Target="../media/image127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10" Type="http://schemas.openxmlformats.org/officeDocument/2006/relationships/image" Target="../media/image131.png"/><Relationship Id="rId19" Type="http://schemas.openxmlformats.org/officeDocument/2006/relationships/image" Target="../media/image140.png"/><Relationship Id="rId4" Type="http://schemas.openxmlformats.org/officeDocument/2006/relationships/image" Target="../media/image15.png"/><Relationship Id="rId9" Type="http://schemas.openxmlformats.org/officeDocument/2006/relationships/image" Target="../media/image112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1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159.png"/><Relationship Id="rId10" Type="http://schemas.openxmlformats.org/officeDocument/2006/relationships/image" Target="../media/image164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167.png"/><Relationship Id="rId21" Type="http://schemas.openxmlformats.org/officeDocument/2006/relationships/image" Target="../media/image11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9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19" Type="http://schemas.openxmlformats.org/officeDocument/2006/relationships/image" Target="../media/image130.png"/><Relationship Id="rId4" Type="http://schemas.openxmlformats.org/officeDocument/2006/relationships/image" Target="../media/image168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7350"/>
            <a:ext cx="5715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1657350"/>
            <a:ext cx="51435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57350"/>
            <a:ext cx="51435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067050"/>
            <a:ext cx="12192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3162" y="50101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3463" y="501015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25521" y="613410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87335" y="61341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24468" y="61341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618833" y="2266950"/>
            <a:ext cx="89543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Type Systems</a:t>
            </a:r>
            <a:endParaRPr lang="en-US" sz="4500" dirty="0"/>
          </a:p>
        </p:txBody>
      </p:sp>
      <p:sp>
        <p:nvSpPr>
          <p:cNvPr id="16" name="Text 1"/>
          <p:cNvSpPr/>
          <p:nvPr/>
        </p:nvSpPr>
        <p:spPr>
          <a:xfrm>
            <a:off x="2365028" y="3333750"/>
            <a:ext cx="7461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Lecture 2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2292325" y="4362450"/>
            <a:ext cx="76072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Programming Languages 3 (PL3)</a:t>
            </a:r>
            <a:endParaRPr lang="en-US" sz="2700" dirty="0"/>
          </a:p>
        </p:txBody>
      </p:sp>
      <p:sp>
        <p:nvSpPr>
          <p:cNvPr id="18" name="Text 3"/>
          <p:cNvSpPr/>
          <p:nvPr/>
        </p:nvSpPr>
        <p:spPr>
          <a:xfrm>
            <a:off x="4672072" y="4972050"/>
            <a:ext cx="1676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Science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6634445" y="4972050"/>
            <a:ext cx="1062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2025-09-25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100856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21" name="Text 6"/>
          <p:cNvSpPr/>
          <p:nvPr/>
        </p:nvSpPr>
        <p:spPr>
          <a:xfrm>
            <a:off x="104892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22" name="Text 7"/>
          <p:cNvSpPr/>
          <p:nvPr/>
        </p:nvSpPr>
        <p:spPr>
          <a:xfrm>
            <a:off x="110379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3" name="Text 8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8088" y="-148137"/>
            <a:ext cx="12908176" cy="7154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33600"/>
            <a:ext cx="355595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3622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4384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2133600"/>
            <a:ext cx="3555950" cy="1981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550" y="23622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0850" y="24384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701" y="2133600"/>
            <a:ext cx="3556099" cy="1981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301" y="23622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0176" y="243840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501015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5525" y="5200650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49149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3925" y="510540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10400" y="501015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0900" y="520065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48800" y="5010150"/>
            <a:ext cx="6096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67875" y="5200650"/>
            <a:ext cx="17145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329565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0750" y="329565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01500" y="329565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72675" y="6122045"/>
            <a:ext cx="247650" cy="50735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10825" y="6122045"/>
            <a:ext cx="400050" cy="50735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001375" y="6122045"/>
            <a:ext cx="571500" cy="50735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63375" y="6122045"/>
            <a:ext cx="200025" cy="507355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 Type System?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457200" y="1295400"/>
            <a:ext cx="853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type system is a set of rules that assigns a </a:t>
            </a: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various constructs within a programming language, such as variables, expressions, and functions.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295400" y="2457450"/>
            <a:ext cx="1802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Assigns Types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685800" y="2971800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Maps language constructs to types, enabling operations to be performed based on those types.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5156150" y="2457450"/>
            <a:ext cx="2014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Errors</a:t>
            </a:r>
            <a:endParaRPr lang="en-US" sz="1500" dirty="0"/>
          </a:p>
        </p:txBody>
      </p:sp>
      <p:sp>
        <p:nvSpPr>
          <p:cNvPr id="34" name="Text 5"/>
          <p:cNvSpPr/>
          <p:nvPr/>
        </p:nvSpPr>
        <p:spPr>
          <a:xfrm>
            <a:off x="4546550" y="2971800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Catches invalid operations early by ensuring operations are only performed on compatible types.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9016901" y="2457450"/>
            <a:ext cx="2878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Optimizations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8407301" y="2971800"/>
            <a:ext cx="3098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compilers to generate more efficient machine code by making assumptions about memory layout and operations.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457200" y="449580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a Type System Works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1828800" y="56959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4267200" y="5600700"/>
            <a:ext cx="121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System Rules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6583680" y="5695950"/>
            <a:ext cx="1463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Valid/Invalid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9022080" y="5695950"/>
            <a:ext cx="1463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Optimized Code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95400"/>
            <a:ext cx="5486400" cy="416034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240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002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514600"/>
            <a:ext cx="5029200" cy="44187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242221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318421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775621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3851821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309021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385221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295400"/>
            <a:ext cx="5486400" cy="416034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15240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16002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514600"/>
            <a:ext cx="5029200" cy="65514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455491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531691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3988891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3675" y="4065091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4522291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4598491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66900" y="5684341"/>
            <a:ext cx="7620000" cy="571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82646" y="6134100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11135" y="6134100"/>
            <a:ext cx="200025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86368" y="6134100"/>
            <a:ext cx="200025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vs Dynamic Typing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295400" y="1600200"/>
            <a:ext cx="20125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Typing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685800" y="21336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checking occurs at </a:t>
            </a: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compile-time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800100" y="2628900"/>
            <a:ext cx="4800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104900" y="3185071"/>
            <a:ext cx="2170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Early Error Detection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1104900" y="3413671"/>
            <a:ext cx="2170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Compiler catches errors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1104900" y="3718471"/>
            <a:ext cx="1320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104900" y="3947071"/>
            <a:ext cx="1320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execution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1104900" y="4251871"/>
            <a:ext cx="1239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Safety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1104900" y="4480471"/>
            <a:ext cx="14876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guarantees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685800" y="4823371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Rust, Java, C++</a:t>
            </a:r>
            <a:endParaRPr lang="en-US" sz="1050" dirty="0"/>
          </a:p>
        </p:txBody>
      </p:sp>
      <p:sp>
        <p:nvSpPr>
          <p:cNvPr id="41" name="Text 11"/>
          <p:cNvSpPr/>
          <p:nvPr/>
        </p:nvSpPr>
        <p:spPr>
          <a:xfrm>
            <a:off x="7086600" y="1600200"/>
            <a:ext cx="24404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Typing</a:t>
            </a:r>
            <a:endParaRPr lang="en-US" sz="1800" dirty="0"/>
          </a:p>
        </p:txBody>
      </p:sp>
      <p:sp>
        <p:nvSpPr>
          <p:cNvPr id="42" name="Text 12"/>
          <p:cNvSpPr/>
          <p:nvPr/>
        </p:nvSpPr>
        <p:spPr>
          <a:xfrm>
            <a:off x="6477000" y="21336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checking occurs at </a:t>
            </a:r>
            <a:r>
              <a:rPr lang="en-US" sz="1200" b="1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591300" y="2628900"/>
            <a:ext cx="4800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6591300" y="2842171"/>
            <a:ext cx="4800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896100" y="3398341"/>
            <a:ext cx="248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 Error Detection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6896100" y="3626941"/>
            <a:ext cx="24856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Errors appear during execution</a:t>
            </a:r>
            <a:endParaRPr lang="en-US" sz="1050" dirty="0"/>
          </a:p>
        </p:txBody>
      </p:sp>
      <p:sp>
        <p:nvSpPr>
          <p:cNvPr id="47" name="Text 17"/>
          <p:cNvSpPr/>
          <p:nvPr/>
        </p:nvSpPr>
        <p:spPr>
          <a:xfrm>
            <a:off x="6896100" y="3931741"/>
            <a:ext cx="1505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6896100" y="4160341"/>
            <a:ext cx="1505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overhead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6896100" y="4465141"/>
            <a:ext cx="1429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Safety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6896100" y="4693741"/>
            <a:ext cx="1715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Flexibility over safety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6477000" y="5036641"/>
            <a:ext cx="6035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Python, JavaScript, Ruby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99713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53" name="Text 23"/>
          <p:cNvSpPr/>
          <p:nvPr/>
        </p:nvSpPr>
        <p:spPr>
          <a:xfrm>
            <a:off x="104130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54" name="Text 24"/>
          <p:cNvSpPr/>
          <p:nvPr/>
        </p:nvSpPr>
        <p:spPr>
          <a:xfrm>
            <a:off x="109998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5" name="Text 25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95400"/>
            <a:ext cx="5486400" cy="2476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24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5811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095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438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781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3914" y="3200400"/>
            <a:ext cx="521643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9857" y="3200400"/>
            <a:ext cx="510332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4489" y="3200400"/>
            <a:ext cx="69086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295400"/>
            <a:ext cx="5486400" cy="2476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5240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15811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0955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4384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7813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5114" y="3200400"/>
            <a:ext cx="897136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6550" y="3200400"/>
            <a:ext cx="489793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0644" y="3200400"/>
            <a:ext cx="321766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114800"/>
            <a:ext cx="171450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4457700"/>
            <a:ext cx="5486400" cy="1409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6717" y="55054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3628" y="55054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4457700"/>
            <a:ext cx="5486400" cy="1409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2800" y="550545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54828" y="550545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48342" y="6134100"/>
            <a:ext cx="200025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23427" y="6134100"/>
            <a:ext cx="200025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723489" y="6134100"/>
            <a:ext cx="228600" cy="3048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vs Weak Typing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1181100" y="1562100"/>
            <a:ext cx="21550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Typing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914400" y="2057400"/>
            <a:ext cx="34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Does 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allow implicit type coercion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914400" y="2400300"/>
            <a:ext cx="407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Requires explicit conversions between types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914400" y="2743200"/>
            <a:ext cx="2858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accidental type errors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685800" y="3219450"/>
            <a:ext cx="950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1668214" y="3200400"/>
            <a:ext cx="6259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2304157" y="3200400"/>
            <a:ext cx="6123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2928789" y="3200400"/>
            <a:ext cx="82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6972300" y="1562100"/>
            <a:ext cx="19573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Weak Typing</a:t>
            </a:r>
            <a:endParaRPr lang="en-US" sz="1800" dirty="0"/>
          </a:p>
        </p:txBody>
      </p:sp>
      <p:sp>
        <p:nvSpPr>
          <p:cNvPr id="43" name="Text 10"/>
          <p:cNvSpPr/>
          <p:nvPr/>
        </p:nvSpPr>
        <p:spPr>
          <a:xfrm>
            <a:off x="6705600" y="2057400"/>
            <a:ext cx="2611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implicit type coercion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6705600" y="2400300"/>
            <a:ext cx="3520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converts between types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6705600" y="2743200"/>
            <a:ext cx="3384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Offers flexibility but can lead to bugs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6477000" y="3219450"/>
            <a:ext cx="950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7459414" y="3200400"/>
            <a:ext cx="1076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8470850" y="3200400"/>
            <a:ext cx="48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PHP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9074944" y="3200400"/>
            <a:ext cx="3217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704850" y="4076700"/>
            <a:ext cx="43991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 Example (Weak Typing)</a:t>
            </a:r>
            <a:endParaRPr lang="en-US" sz="1500" dirty="0"/>
          </a:p>
        </p:txBody>
      </p:sp>
      <p:sp>
        <p:nvSpPr>
          <p:cNvPr id="51" name="Text 18"/>
          <p:cNvSpPr/>
          <p:nvPr/>
        </p:nvSpPr>
        <p:spPr>
          <a:xfrm>
            <a:off x="762000" y="46482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Subtraction</a:t>
            </a: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647700" y="5486400"/>
            <a:ext cx="759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string "5"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1566267" y="54864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5</a:t>
            </a:r>
            <a:endParaRPr lang="en-US" sz="1050" dirty="0"/>
          </a:p>
        </p:txBody>
      </p:sp>
      <p:sp>
        <p:nvSpPr>
          <p:cNvPr id="54" name="Text 21"/>
          <p:cNvSpPr/>
          <p:nvPr/>
        </p:nvSpPr>
        <p:spPr>
          <a:xfrm>
            <a:off x="4492228" y="5486400"/>
            <a:ext cx="1513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Implicit conversion</a:t>
            </a:r>
            <a:endParaRPr lang="en-US" sz="1050" dirty="0"/>
          </a:p>
        </p:txBody>
      </p:sp>
      <p:sp>
        <p:nvSpPr>
          <p:cNvPr id="55" name="Text 22"/>
          <p:cNvSpPr/>
          <p:nvPr/>
        </p:nvSpPr>
        <p:spPr>
          <a:xfrm>
            <a:off x="6553200" y="46482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Addition</a:t>
            </a: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"52"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6438900" y="54864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2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7372350" y="5486400"/>
            <a:ext cx="759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string "2"</a:t>
            </a:r>
            <a:endParaRPr lang="en-US" sz="1050" dirty="0"/>
          </a:p>
        </p:txBody>
      </p:sp>
      <p:sp>
        <p:nvSpPr>
          <p:cNvPr id="58" name="Text 25"/>
          <p:cNvSpPr/>
          <p:nvPr/>
        </p:nvSpPr>
        <p:spPr>
          <a:xfrm>
            <a:off x="10283428" y="5486400"/>
            <a:ext cx="1513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Implicit conversion</a:t>
            </a:r>
            <a:endParaRPr lang="en-US" sz="1050" dirty="0"/>
          </a:p>
        </p:txBody>
      </p:sp>
      <p:sp>
        <p:nvSpPr>
          <p:cNvPr id="59" name="Text 26"/>
          <p:cNvSpPr/>
          <p:nvPr/>
        </p:nvSpPr>
        <p:spPr>
          <a:xfrm>
            <a:off x="10361861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27"/>
          <p:cNvSpPr/>
          <p:nvPr/>
        </p:nvSpPr>
        <p:spPr>
          <a:xfrm>
            <a:off x="11125349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61" name="Text 28"/>
          <p:cNvSpPr/>
          <p:nvPr/>
        </p:nvSpPr>
        <p:spPr>
          <a:xfrm>
            <a:off x="11712178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23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52700"/>
            <a:ext cx="5486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962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67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572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295400"/>
            <a:ext cx="5486400" cy="2895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4419600"/>
            <a:ext cx="5486400" cy="2209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5295900"/>
            <a:ext cx="12192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5450" y="5372100"/>
            <a:ext cx="7620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5372100"/>
            <a:ext cx="762000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5295900"/>
            <a:ext cx="12192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5295900"/>
            <a:ext cx="12192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82646" y="64008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11135" y="640080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86368" y="64008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63375" y="6400800"/>
            <a:ext cx="200025" cy="3048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Polymorphism: Parametric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762000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 Polymorphism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457200" y="17145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 polymorphism allows functions or data structures to be written generically, operating uniformly on values without depending on their specific type.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609600" y="27051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concept: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Type variables act as placeholders, and the compiler instantiates the generic code with concrete types as needed.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457200" y="35433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685800" y="3924300"/>
            <a:ext cx="3074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 reuse across different types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85800" y="4229100"/>
            <a:ext cx="2316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Compile-time type safety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685800" y="4533900"/>
            <a:ext cx="3458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benefits through inlining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438900" y="15144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987778" y="15144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Box&lt;T&gt;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7536507" y="1514475"/>
            <a:ext cx="12805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804720" y="17430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896249" y="1743075"/>
            <a:ext cx="131712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value;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804720" y="22002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7079159" y="22002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7170688" y="22002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7262217" y="2200275"/>
            <a:ext cx="164618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value = v;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6804720" y="31146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896249" y="3114675"/>
            <a:ext cx="19756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getValue()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7170539" y="33432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200" dirty="0"/>
          </a:p>
        </p:txBody>
      </p:sp>
      <p:sp>
        <p:nvSpPr>
          <p:cNvPr id="41" name="Text 20"/>
          <p:cNvSpPr/>
          <p:nvPr/>
        </p:nvSpPr>
        <p:spPr>
          <a:xfrm>
            <a:off x="7719268" y="3343275"/>
            <a:ext cx="192062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value;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6438900" y="4638675"/>
            <a:ext cx="877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Usage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6438900" y="4867275"/>
            <a:ext cx="1316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Box&lt;Integer&gt;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7536359" y="4867275"/>
            <a:ext cx="1097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intBox = </a:t>
            </a:r>
            <a:endParaRPr lang="en-US" sz="1200" dirty="0"/>
          </a:p>
        </p:txBody>
      </p:sp>
      <p:sp>
        <p:nvSpPr>
          <p:cNvPr id="45" name="Text 24"/>
          <p:cNvSpPr/>
          <p:nvPr/>
        </p:nvSpPr>
        <p:spPr>
          <a:xfrm>
            <a:off x="8450907" y="48672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46" name="Text 25"/>
          <p:cNvSpPr/>
          <p:nvPr/>
        </p:nvSpPr>
        <p:spPr>
          <a:xfrm>
            <a:off x="8816876" y="4867275"/>
            <a:ext cx="1316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Box&lt;Integer&gt;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9914334" y="48672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48" name="Text 27"/>
          <p:cNvSpPr/>
          <p:nvPr/>
        </p:nvSpPr>
        <p:spPr>
          <a:xfrm>
            <a:off x="10005864" y="48672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123</a:t>
            </a:r>
            <a:endParaRPr lang="en-US" sz="1200" dirty="0"/>
          </a:p>
        </p:txBody>
      </p:sp>
      <p:sp>
        <p:nvSpPr>
          <p:cNvPr id="49" name="Text 28"/>
          <p:cNvSpPr/>
          <p:nvPr/>
        </p:nvSpPr>
        <p:spPr>
          <a:xfrm>
            <a:off x="10280303" y="486727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</a:t>
            </a:r>
            <a:endParaRPr lang="en-US" sz="1200" dirty="0"/>
          </a:p>
        </p:txBody>
      </p:sp>
      <p:sp>
        <p:nvSpPr>
          <p:cNvPr id="50" name="Text 29"/>
          <p:cNvSpPr/>
          <p:nvPr/>
        </p:nvSpPr>
        <p:spPr>
          <a:xfrm>
            <a:off x="6438900" y="509587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Box&lt;String&gt;</a:t>
            </a:r>
            <a:endParaRPr lang="en-US" sz="1200" dirty="0"/>
          </a:p>
        </p:txBody>
      </p:sp>
      <p:sp>
        <p:nvSpPr>
          <p:cNvPr id="51" name="Text 30"/>
          <p:cNvSpPr/>
          <p:nvPr/>
        </p:nvSpPr>
        <p:spPr>
          <a:xfrm>
            <a:off x="7444978" y="5095875"/>
            <a:ext cx="1426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stringBox = </a:t>
            </a:r>
            <a:endParaRPr lang="en-US" sz="1200" dirty="0"/>
          </a:p>
        </p:txBody>
      </p:sp>
      <p:sp>
        <p:nvSpPr>
          <p:cNvPr id="52" name="Text 31"/>
          <p:cNvSpPr/>
          <p:nvPr/>
        </p:nvSpPr>
        <p:spPr>
          <a:xfrm>
            <a:off x="8633966" y="50958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53" name="Text 32"/>
          <p:cNvSpPr/>
          <p:nvPr/>
        </p:nvSpPr>
        <p:spPr>
          <a:xfrm>
            <a:off x="8999934" y="509587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Box&lt;String&gt;</a:t>
            </a:r>
            <a:endParaRPr lang="en-US" sz="1200" dirty="0"/>
          </a:p>
        </p:txBody>
      </p:sp>
      <p:sp>
        <p:nvSpPr>
          <p:cNvPr id="54" name="Text 33"/>
          <p:cNvSpPr/>
          <p:nvPr/>
        </p:nvSpPr>
        <p:spPr>
          <a:xfrm>
            <a:off x="10006013" y="5095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55" name="Text 34"/>
          <p:cNvSpPr/>
          <p:nvPr/>
        </p:nvSpPr>
        <p:spPr>
          <a:xfrm>
            <a:off x="10097542" y="509587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"hello"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10737800" y="509587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</a:t>
            </a:r>
            <a:endParaRPr lang="en-US" sz="1200" dirty="0"/>
          </a:p>
        </p:txBody>
      </p:sp>
      <p:sp>
        <p:nvSpPr>
          <p:cNvPr id="57" name="Text 36"/>
          <p:cNvSpPr/>
          <p:nvPr/>
        </p:nvSpPr>
        <p:spPr>
          <a:xfrm>
            <a:off x="6438900" y="5553075"/>
            <a:ext cx="1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123</a:t>
            </a:r>
            <a:endParaRPr lang="en-US" sz="1200" dirty="0"/>
          </a:p>
        </p:txBody>
      </p:sp>
      <p:sp>
        <p:nvSpPr>
          <p:cNvPr id="58" name="Text 37"/>
          <p:cNvSpPr/>
          <p:nvPr/>
        </p:nvSpPr>
        <p:spPr>
          <a:xfrm>
            <a:off x="6438900" y="57816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</a:t>
            </a:r>
            <a:endParaRPr lang="en-US" sz="1200" dirty="0"/>
          </a:p>
        </p:txBody>
      </p:sp>
      <p:sp>
        <p:nvSpPr>
          <p:cNvPr id="59" name="Text 38"/>
          <p:cNvSpPr/>
          <p:nvPr/>
        </p:nvSpPr>
        <p:spPr>
          <a:xfrm>
            <a:off x="6987629" y="5781675"/>
            <a:ext cx="35118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.out.println(intBox.getValue());
</a:t>
            </a:r>
            <a:endParaRPr lang="en-US" sz="1200" dirty="0"/>
          </a:p>
        </p:txBody>
      </p:sp>
      <p:sp>
        <p:nvSpPr>
          <p:cNvPr id="60" name="Text 39"/>
          <p:cNvSpPr/>
          <p:nvPr/>
        </p:nvSpPr>
        <p:spPr>
          <a:xfrm>
            <a:off x="6438900" y="6010275"/>
            <a:ext cx="17559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hello</a:t>
            </a:r>
            <a:endParaRPr lang="en-US" sz="1200" dirty="0"/>
          </a:p>
        </p:txBody>
      </p:sp>
      <p:sp>
        <p:nvSpPr>
          <p:cNvPr id="61" name="Text 40"/>
          <p:cNvSpPr/>
          <p:nvPr/>
        </p:nvSpPr>
        <p:spPr>
          <a:xfrm>
            <a:off x="6438900" y="62388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</a:t>
            </a:r>
            <a:endParaRPr lang="en-US" sz="1200" dirty="0"/>
          </a:p>
        </p:txBody>
      </p:sp>
      <p:sp>
        <p:nvSpPr>
          <p:cNvPr id="62" name="Text 41"/>
          <p:cNvSpPr/>
          <p:nvPr/>
        </p:nvSpPr>
        <p:spPr>
          <a:xfrm>
            <a:off x="6987629" y="6238875"/>
            <a:ext cx="3841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.out.println(stringBox.getValue());</a:t>
            </a:r>
            <a:endParaRPr lang="en-US" sz="1200" dirty="0"/>
          </a:p>
        </p:txBody>
      </p:sp>
      <p:sp>
        <p:nvSpPr>
          <p:cNvPr id="63" name="Text 42"/>
          <p:cNvSpPr/>
          <p:nvPr/>
        </p:nvSpPr>
        <p:spPr>
          <a:xfrm>
            <a:off x="4602361" y="5486400"/>
            <a:ext cx="65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Box&lt;T&gt;</a:t>
            </a:r>
            <a:endParaRPr lang="en-US" sz="1200" dirty="0"/>
          </a:p>
        </p:txBody>
      </p:sp>
      <p:sp>
        <p:nvSpPr>
          <p:cNvPr id="64" name="Text 43"/>
          <p:cNvSpPr/>
          <p:nvPr/>
        </p:nvSpPr>
        <p:spPr>
          <a:xfrm>
            <a:off x="4328071" y="5486400"/>
            <a:ext cx="131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Box&lt;Integer&gt;</a:t>
            </a:r>
            <a:endParaRPr lang="en-US" sz="1200" dirty="0"/>
          </a:p>
        </p:txBody>
      </p:sp>
      <p:sp>
        <p:nvSpPr>
          <p:cNvPr id="65" name="Text 44"/>
          <p:cNvSpPr/>
          <p:nvPr/>
        </p:nvSpPr>
        <p:spPr>
          <a:xfrm>
            <a:off x="4373761" y="5486400"/>
            <a:ext cx="1207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Box&lt;String&gt;</a:t>
            </a:r>
            <a:endParaRPr lang="en-US" sz="1200" dirty="0"/>
          </a:p>
        </p:txBody>
      </p:sp>
      <p:sp>
        <p:nvSpPr>
          <p:cNvPr id="66" name="Text 45"/>
          <p:cNvSpPr/>
          <p:nvPr/>
        </p:nvSpPr>
        <p:spPr>
          <a:xfrm>
            <a:off x="5389721" y="6229350"/>
            <a:ext cx="1160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 = Integer</a:t>
            </a:r>
            <a:endParaRPr lang="en-US" sz="1200" dirty="0"/>
          </a:p>
        </p:txBody>
      </p:sp>
      <p:sp>
        <p:nvSpPr>
          <p:cNvPr id="67" name="Text 46"/>
          <p:cNvSpPr/>
          <p:nvPr/>
        </p:nvSpPr>
        <p:spPr>
          <a:xfrm>
            <a:off x="4180656" y="6229350"/>
            <a:ext cx="1038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 = String</a:t>
            </a:r>
            <a:endParaRPr lang="en-US" sz="1200" dirty="0"/>
          </a:p>
        </p:txBody>
      </p:sp>
      <p:sp>
        <p:nvSpPr>
          <p:cNvPr id="68" name="Text 47"/>
          <p:cNvSpPr/>
          <p:nvPr/>
        </p:nvSpPr>
        <p:spPr>
          <a:xfrm>
            <a:off x="9971336" y="67437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69" name="Text 48"/>
          <p:cNvSpPr/>
          <p:nvPr/>
        </p:nvSpPr>
        <p:spPr>
          <a:xfrm>
            <a:off x="10413057" y="67437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70" name="Text 49"/>
          <p:cNvSpPr/>
          <p:nvPr/>
        </p:nvSpPr>
        <p:spPr>
          <a:xfrm>
            <a:off x="10999887" y="67437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1" name="Text 50"/>
          <p:cNvSpPr/>
          <p:nvPr/>
        </p:nvSpPr>
        <p:spPr>
          <a:xfrm>
            <a:off x="11784062" y="67437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95400"/>
            <a:ext cx="54864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478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781300"/>
            <a:ext cx="5486400" cy="163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93370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648200"/>
            <a:ext cx="5486400" cy="1905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143500"/>
            <a:ext cx="5181600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295400"/>
            <a:ext cx="5486400" cy="2819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Polymorphism: Ad-hoc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838200" y="1409700"/>
            <a:ext cx="6309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Ad-hoc Polymorphism?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571500" y="17526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Ad-hoc polymorphism allows functions or operators with the </a:t>
            </a: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same name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exhibit </a:t>
            </a: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different behaviors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based on the types of their arguments.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885825" y="28956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590550" y="323850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compiler selects the appropriate implementation at compile-time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590550" y="377190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Methods are distinguished by argument types (not return types)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590550" y="407670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Similar to function overloading in Java/C++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609600" y="48006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Usage Example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762000" y="5143500"/>
            <a:ext cx="51816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 = </a:t>
            </a: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newCalculator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int add method</a:t>
            </a: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result1 = calc.add(5, 10);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double add method</a:t>
            </a: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result2 = calc.add(3.5, 2.1);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6400800" y="1476375"/>
            <a:ext cx="33839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 Calculator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// Overloaded method for integers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6766620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7132588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0FA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7407027" y="19335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7498556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7772995" y="19335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a, 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8138815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8413254" y="1933575"/>
            <a:ext cx="29637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b)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7132439" y="21621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7681168" y="2162175"/>
            <a:ext cx="329237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 + b;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// Overloaded method for doubles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6766620" y="30765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7406878" y="3076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0FA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7681317" y="30765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7772846" y="30765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8321576" y="30765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a, 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8687395" y="30765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9236125" y="3076575"/>
            <a:ext cx="32926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b)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7132439" y="33051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7681168" y="3305175"/>
            <a:ext cx="192062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 + b;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19200"/>
            <a:ext cx="5486400" cy="2095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21907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543300"/>
            <a:ext cx="5486400" cy="1714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69570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486400"/>
            <a:ext cx="54864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6388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219200"/>
            <a:ext cx="5486400" cy="67056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Polymorphism: Subtype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866775" y="1333500"/>
            <a:ext cx="6309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Subtype Polymorphism?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571500" y="16764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Subtype polymorphism allows a value of a certain type (subtype) to be used wherever a value of a more general type (supertype) is expected.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571500" y="25146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Typically achieved through </a:t>
            </a: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inheritance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or </a:t>
            </a: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interface implementation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where methods can be overridden in derived classes.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885825" y="36576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571500" y="40005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 reuse through inheritance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571500" y="43053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 overriding for specific implementations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571500" y="46101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dispatch based on object type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571500" y="49149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Flexibility in object creation and usage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838200" y="56007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Pitfalls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571500" y="59436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"fragile base class problem" - changes to a superclass can unintentionally affect all subclasses.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6400800" y="1400175"/>
            <a:ext cx="3402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Subtype Polymorphism Example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6400800" y="18573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6949678" y="18573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8BB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Animal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7498407" y="1857375"/>
            <a:ext cx="12805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6766620" y="20859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void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7132439" y="2085975"/>
            <a:ext cx="2469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speak()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System.out.println(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8870156" y="2314575"/>
            <a:ext cx="2414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"Animal makes a sound"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10882164" y="2314575"/>
            <a:ext cx="466427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    }
}
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6400800" y="32289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6949678" y="32289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8BB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Dog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7315646" y="322897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extends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7955905" y="3228975"/>
            <a:ext cx="28539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Animal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6766620" y="3457575"/>
            <a:ext cx="987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@Override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6766620" y="36861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void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7132439" y="3686175"/>
            <a:ext cx="2469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speak()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System.out.println(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8870156" y="39147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"Woof"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9418886" y="3914775"/>
            <a:ext cx="32009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    }
}
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6400800" y="48291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6949678" y="48291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8BB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Cat</a:t>
            </a:r>
            <a:endParaRPr lang="en-US" sz="1200" dirty="0"/>
          </a:p>
        </p:txBody>
      </p:sp>
      <p:sp>
        <p:nvSpPr>
          <p:cNvPr id="42" name="Text 30"/>
          <p:cNvSpPr/>
          <p:nvPr/>
        </p:nvSpPr>
        <p:spPr>
          <a:xfrm>
            <a:off x="7315646" y="482917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extends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7955905" y="4829175"/>
            <a:ext cx="28539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Animal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6766620" y="5057775"/>
            <a:ext cx="987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@Override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6766620" y="52863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void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7132439" y="5286375"/>
            <a:ext cx="2469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speak()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System.out.println(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8870156" y="55149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"Meow"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9418886" y="5514975"/>
            <a:ext cx="32009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    }
}
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6400800" y="6429375"/>
            <a:ext cx="877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Usage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7132439" y="66579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Animal myDog = </a:t>
            </a:r>
            <a:endParaRPr lang="en-US" sz="1200" dirty="0"/>
          </a:p>
        </p:txBody>
      </p:sp>
      <p:sp>
        <p:nvSpPr>
          <p:cNvPr id="51" name="Text 39"/>
          <p:cNvSpPr/>
          <p:nvPr/>
        </p:nvSpPr>
        <p:spPr>
          <a:xfrm>
            <a:off x="7772698" y="66579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8047137" y="6657975"/>
            <a:ext cx="22865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Dog();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Animal myCat = 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7772698" y="6886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8047137" y="6886575"/>
            <a:ext cx="22865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Cat();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myDog.speak(); 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7772698" y="73437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Woof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9144595" y="75723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myCat.speak(); 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7772698" y="75723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Meow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23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7475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195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648200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953000"/>
            <a:ext cx="762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257800"/>
            <a:ext cx="762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562600"/>
            <a:ext cx="762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1295400"/>
            <a:ext cx="54483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447800"/>
            <a:ext cx="114300" cy="114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144780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9900" y="14478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2476500"/>
            <a:ext cx="5448300" cy="18383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09900"/>
            <a:ext cx="1285875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7538" y="31242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9569" y="333375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7712" y="3009900"/>
            <a:ext cx="1285875" cy="80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24925" y="3124200"/>
            <a:ext cx="1714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8381" y="333375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96525" y="3009900"/>
            <a:ext cx="1285875" cy="800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25163" y="31242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6500" y="4467225"/>
            <a:ext cx="200025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04534" y="4467225"/>
            <a:ext cx="28575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82646" y="6134100"/>
            <a:ext cx="2286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11135" y="6134100"/>
            <a:ext cx="200025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186368" y="6134100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 (Hindley-Milner)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762000" y="1295400"/>
            <a:ext cx="6537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Type Inference?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457200" y="1714500"/>
            <a:ext cx="5448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 is a powerful feature in statically typed languages where the compiler automatically deduces the types of expressions and variables, reducing the need for explicit type annotations.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819150" y="2628900"/>
            <a:ext cx="6537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Hindley-Milner Algorithm</a:t>
            </a:r>
            <a:endParaRPr lang="en-US" sz="1800" dirty="0"/>
          </a:p>
        </p:txBody>
      </p:sp>
      <p:sp>
        <p:nvSpPr>
          <p:cNvPr id="35" name="Text 4"/>
          <p:cNvSpPr/>
          <p:nvPr/>
        </p:nvSpPr>
        <p:spPr>
          <a:xfrm>
            <a:off x="457200" y="3048000"/>
            <a:ext cx="5448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Hindley-Milner algorithm is a foundational system for type inference that can infer the most general type for an expression, including polymorphic types. It's used in languages like ML and Haskell.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762000" y="419100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</a:t>
            </a:r>
            <a:endParaRPr lang="en-US" sz="1800" dirty="0"/>
          </a:p>
        </p:txBody>
      </p:sp>
      <p:sp>
        <p:nvSpPr>
          <p:cNvPr id="37" name="Text 6"/>
          <p:cNvSpPr/>
          <p:nvPr/>
        </p:nvSpPr>
        <p:spPr>
          <a:xfrm>
            <a:off x="609600" y="4610100"/>
            <a:ext cx="4084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Makes code more concise and easier to read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609600" y="4914900"/>
            <a:ext cx="3317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repetitive type annotations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609600" y="5219700"/>
            <a:ext cx="4668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polymorphic functions and data structures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609600" y="5524500"/>
            <a:ext cx="361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Retains benefits of static type checking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6438900" y="16668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square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7079159" y="1666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7170688" y="16668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= 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7445127" y="1666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7536656" y="16668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* 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7811095" y="1666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6621810" y="1895475"/>
            <a:ext cx="30728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3E6B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 inferred: Num a =&gt; a -&gt; a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438900" y="26289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 Process</a:t>
            </a:r>
            <a:endParaRPr lang="en-US" sz="1500" dirty="0"/>
          </a:p>
        </p:txBody>
      </p:sp>
      <p:sp>
        <p:nvSpPr>
          <p:cNvPr id="49" name="Text 18"/>
          <p:cNvSpPr/>
          <p:nvPr/>
        </p:nvSpPr>
        <p:spPr>
          <a:xfrm>
            <a:off x="6447473" y="3505200"/>
            <a:ext cx="126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Unknown type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8376285" y="3505200"/>
            <a:ext cx="126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 constraint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10305098" y="3505200"/>
            <a:ext cx="126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inferred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5924550" y="3962400"/>
            <a:ext cx="6172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algorithm infers </a:t>
            </a:r>
            <a:r>
              <a:rPr lang="en-US" sz="105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 a =&gt; a -&gt; a</a:t>
            </a:r>
            <a:endParaRPr lang="en-US" sz="1050" dirty="0"/>
          </a:p>
        </p:txBody>
      </p:sp>
      <p:sp>
        <p:nvSpPr>
          <p:cNvPr id="53" name="Text 22"/>
          <p:cNvSpPr/>
          <p:nvPr/>
        </p:nvSpPr>
        <p:spPr>
          <a:xfrm>
            <a:off x="6305252" y="4810125"/>
            <a:ext cx="194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</a:t>
            </a:r>
            <a:endParaRPr lang="en-US" sz="900" dirty="0"/>
          </a:p>
        </p:txBody>
      </p:sp>
      <p:sp>
        <p:nvSpPr>
          <p:cNvPr id="54" name="Text 23"/>
          <p:cNvSpPr/>
          <p:nvPr/>
        </p:nvSpPr>
        <p:spPr>
          <a:xfrm>
            <a:off x="6715125" y="4505325"/>
            <a:ext cx="493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Haskell</a:t>
            </a:r>
            <a:endParaRPr lang="en-US" sz="900" dirty="0"/>
          </a:p>
        </p:txBody>
      </p:sp>
      <p:sp>
        <p:nvSpPr>
          <p:cNvPr id="55" name="Text 24"/>
          <p:cNvSpPr/>
          <p:nvPr/>
        </p:nvSpPr>
        <p:spPr>
          <a:xfrm>
            <a:off x="7355235" y="4810125"/>
            <a:ext cx="1181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Languages</a:t>
            </a:r>
            <a:endParaRPr lang="en-US" sz="900" dirty="0"/>
          </a:p>
        </p:txBody>
      </p:sp>
      <p:sp>
        <p:nvSpPr>
          <p:cNvPr id="56" name="Text 25"/>
          <p:cNvSpPr/>
          <p:nvPr/>
        </p:nvSpPr>
        <p:spPr>
          <a:xfrm>
            <a:off x="99713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57" name="Text 26"/>
          <p:cNvSpPr/>
          <p:nvPr/>
        </p:nvSpPr>
        <p:spPr>
          <a:xfrm>
            <a:off x="104130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58" name="Text 27"/>
          <p:cNvSpPr/>
          <p:nvPr/>
        </p:nvSpPr>
        <p:spPr>
          <a:xfrm>
            <a:off x="109998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9" name="Text 28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23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52700"/>
            <a:ext cx="5486400" cy="990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733675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8004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2291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572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14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295400"/>
            <a:ext cx="5486400" cy="2438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1866900"/>
            <a:ext cx="12192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7200" y="1866900"/>
            <a:ext cx="12192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10800" y="1866900"/>
            <a:ext cx="12192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086100"/>
            <a:ext cx="12192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77200" y="3086100"/>
            <a:ext cx="12192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10800" y="3086100"/>
            <a:ext cx="12192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81800" y="2133600"/>
            <a:ext cx="762000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24700" y="2133600"/>
            <a:ext cx="762000" cy="190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81800" y="2667000"/>
            <a:ext cx="762000" cy="190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24700" y="2667000"/>
            <a:ext cx="762000" cy="19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4200" y="2286000"/>
            <a:ext cx="38100" cy="914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62900" y="2286000"/>
            <a:ext cx="38100" cy="914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10900" y="2286000"/>
            <a:ext cx="38100" cy="914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3962400"/>
            <a:ext cx="5486400" cy="533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762000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that depend on values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457200" y="17145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 blur the traditional distinction between the type level and the term level of a program, allowing types to depend on specific values.</a:t>
            </a:r>
            <a:endParaRPr lang="en-US" sz="1200" dirty="0"/>
          </a:p>
        </p:txBody>
      </p:sp>
      <p:sp>
        <p:nvSpPr>
          <p:cNvPr id="30" name="Text 3"/>
          <p:cNvSpPr/>
          <p:nvPr/>
        </p:nvSpPr>
        <p:spPr>
          <a:xfrm>
            <a:off x="800100" y="2705100"/>
            <a:ext cx="518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This enables extremely precise specifications and compile-time verification of properties that would otherwise require runtime checks or formal proofs.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762000" y="37719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32" name="Text 5"/>
          <p:cNvSpPr/>
          <p:nvPr/>
        </p:nvSpPr>
        <p:spPr>
          <a:xfrm>
            <a:off x="723900" y="4191000"/>
            <a:ext cx="4314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safety with compile-time verification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723900" y="4533900"/>
            <a:ext cx="4021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Precise specifications of program properties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723900" y="4876800"/>
            <a:ext cx="3411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Elimination of certain classes of bugs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6400800" y="1447800"/>
            <a:ext cx="6217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 Visualization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6979890" y="2057400"/>
            <a:ext cx="438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8366671" y="20574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Type(A)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10500271" y="20574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F7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Type(B)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6979890" y="3276600"/>
            <a:ext cx="438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8366671" y="32766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Term(A)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10500271" y="32766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F7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Term(B)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934200" y="1962150"/>
            <a:ext cx="802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depends on</a:t>
            </a:r>
            <a:endParaRPr lang="en-US" sz="900" dirty="0"/>
          </a:p>
        </p:txBody>
      </p:sp>
      <p:sp>
        <p:nvSpPr>
          <p:cNvPr id="43" name="Text 16"/>
          <p:cNvSpPr/>
          <p:nvPr/>
        </p:nvSpPr>
        <p:spPr>
          <a:xfrm>
            <a:off x="7962900" y="1962150"/>
            <a:ext cx="802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depends on</a:t>
            </a:r>
            <a:endParaRPr lang="en-US" sz="900" dirty="0"/>
          </a:p>
        </p:txBody>
      </p:sp>
      <p:sp>
        <p:nvSpPr>
          <p:cNvPr id="44" name="Text 17"/>
          <p:cNvSpPr/>
          <p:nvPr/>
        </p:nvSpPr>
        <p:spPr>
          <a:xfrm>
            <a:off x="10379869" y="1962150"/>
            <a:ext cx="802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depends on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6400800" y="41433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6250"/>
            <a:ext cx="277267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5250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323975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752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095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438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860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314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6576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005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3239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752600"/>
            <a:ext cx="5486400" cy="2438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905000"/>
            <a:ext cx="5181600" cy="2133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343400"/>
            <a:ext cx="5486400" cy="2209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82646" y="62865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11135" y="62865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86368" y="62865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3375" y="6286500"/>
            <a:ext cx="200025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886867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Case Study: Rust (1/2)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33425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Strong, Static Typing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685800" y="1714500"/>
            <a:ext cx="4106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checked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rigorously at compile time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685800" y="2057400"/>
            <a:ext cx="3838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 errors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by construction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685800" y="2400300"/>
            <a:ext cx="2594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implicit type conversions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762000" y="28575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Memory Safety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685800" y="3276600"/>
            <a:ext cx="5423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Guarantees memory safety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without a garbage collector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685800" y="3619500"/>
            <a:ext cx="3634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null pointer dereferences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85800" y="3962400"/>
            <a:ext cx="4430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races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use-after-free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errors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553200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Ownership System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6400800" y="4514850"/>
            <a:ext cx="1920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Ownership example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6400800" y="4705350"/>
            <a:ext cx="192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fn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6641009" y="4705350"/>
            <a:ext cx="384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main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6961138" y="4705350"/>
            <a:ext cx="1056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6720929" y="4895850"/>
            <a:ext cx="28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6961138" y="4895850"/>
            <a:ext cx="576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s1 = 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7441406" y="4895850"/>
            <a:ext cx="1152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String::from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8401794" y="48958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8481864" y="4895850"/>
            <a:ext cx="672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"hello"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9042053" y="4895850"/>
            <a:ext cx="28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 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9282261" y="4895850"/>
            <a:ext cx="1824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s1 owns the data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6720929" y="5276850"/>
            <a:ext cx="28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</a:t>
            </a:r>
            <a:endParaRPr lang="en-US" sz="1050" dirty="0"/>
          </a:p>
        </p:txBody>
      </p:sp>
      <p:sp>
        <p:nvSpPr>
          <p:cNvPr id="44" name="Text 22"/>
          <p:cNvSpPr/>
          <p:nvPr/>
        </p:nvSpPr>
        <p:spPr>
          <a:xfrm>
            <a:off x="6961138" y="5276850"/>
            <a:ext cx="9602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s2 = s1; 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7761387" y="5276850"/>
            <a:ext cx="2304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Ownership transferred</a:t>
            </a:r>
            <a:endParaRPr lang="en-US" sz="1050" dirty="0"/>
          </a:p>
        </p:txBody>
      </p:sp>
      <p:sp>
        <p:nvSpPr>
          <p:cNvPr id="46" name="Text 24"/>
          <p:cNvSpPr/>
          <p:nvPr/>
        </p:nvSpPr>
        <p:spPr>
          <a:xfrm>
            <a:off x="6720929" y="5657850"/>
            <a:ext cx="768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println!</a:t>
            </a:r>
            <a:endParaRPr lang="en-US" sz="1050" dirty="0"/>
          </a:p>
        </p:txBody>
      </p:sp>
      <p:sp>
        <p:nvSpPr>
          <p:cNvPr id="47" name="Text 25"/>
          <p:cNvSpPr/>
          <p:nvPr/>
        </p:nvSpPr>
        <p:spPr>
          <a:xfrm>
            <a:off x="7361188" y="56578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50" dirty="0"/>
          </a:p>
        </p:txBody>
      </p:sp>
      <p:sp>
        <p:nvSpPr>
          <p:cNvPr id="48" name="Text 26"/>
          <p:cNvSpPr/>
          <p:nvPr/>
        </p:nvSpPr>
        <p:spPr>
          <a:xfrm>
            <a:off x="7441257" y="5657850"/>
            <a:ext cx="384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"{}"</a:t>
            </a:r>
            <a:endParaRPr lang="en-US" sz="1050" dirty="0"/>
          </a:p>
        </p:txBody>
      </p:sp>
      <p:sp>
        <p:nvSpPr>
          <p:cNvPr id="49" name="Text 27"/>
          <p:cNvSpPr/>
          <p:nvPr/>
        </p:nvSpPr>
        <p:spPr>
          <a:xfrm>
            <a:off x="7761387" y="5657850"/>
            <a:ext cx="672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s2); </a:t>
            </a:r>
            <a:endParaRPr lang="en-US" sz="1050" dirty="0"/>
          </a:p>
        </p:txBody>
      </p:sp>
      <p:sp>
        <p:nvSpPr>
          <p:cNvPr id="50" name="Text 28"/>
          <p:cNvSpPr/>
          <p:nvPr/>
        </p:nvSpPr>
        <p:spPr>
          <a:xfrm>
            <a:off x="8321576" y="5657850"/>
            <a:ext cx="768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Valid</a:t>
            </a:r>
            <a:endParaRPr lang="en-US" sz="1050" dirty="0"/>
          </a:p>
        </p:txBody>
      </p:sp>
      <p:sp>
        <p:nvSpPr>
          <p:cNvPr id="51" name="Text 29"/>
          <p:cNvSpPr/>
          <p:nvPr/>
        </p:nvSpPr>
        <p:spPr>
          <a:xfrm>
            <a:off x="6720929" y="6038850"/>
            <a:ext cx="768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println!</a:t>
            </a:r>
            <a:endParaRPr lang="en-US" sz="1050" dirty="0"/>
          </a:p>
        </p:txBody>
      </p:sp>
      <p:sp>
        <p:nvSpPr>
          <p:cNvPr id="52" name="Text 30"/>
          <p:cNvSpPr/>
          <p:nvPr/>
        </p:nvSpPr>
        <p:spPr>
          <a:xfrm>
            <a:off x="7361188" y="60388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50" dirty="0"/>
          </a:p>
        </p:txBody>
      </p:sp>
      <p:sp>
        <p:nvSpPr>
          <p:cNvPr id="53" name="Text 31"/>
          <p:cNvSpPr/>
          <p:nvPr/>
        </p:nvSpPr>
        <p:spPr>
          <a:xfrm>
            <a:off x="7441257" y="6038850"/>
            <a:ext cx="384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"{}"</a:t>
            </a:r>
            <a:endParaRPr lang="en-US" sz="1050" dirty="0"/>
          </a:p>
        </p:txBody>
      </p:sp>
      <p:sp>
        <p:nvSpPr>
          <p:cNvPr id="54" name="Text 32"/>
          <p:cNvSpPr/>
          <p:nvPr/>
        </p:nvSpPr>
        <p:spPr>
          <a:xfrm>
            <a:off x="7761387" y="6038850"/>
            <a:ext cx="672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s1); </a:t>
            </a:r>
            <a:endParaRPr lang="en-US" sz="1050" dirty="0"/>
          </a:p>
        </p:txBody>
      </p:sp>
      <p:sp>
        <p:nvSpPr>
          <p:cNvPr id="55" name="Text 33"/>
          <p:cNvSpPr/>
          <p:nvPr/>
        </p:nvSpPr>
        <p:spPr>
          <a:xfrm>
            <a:off x="8321576" y="6038850"/>
            <a:ext cx="20166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Compile-time ERROR</a:t>
            </a:r>
            <a:endParaRPr lang="en-US" sz="1050" dirty="0"/>
          </a:p>
        </p:txBody>
      </p:sp>
      <p:sp>
        <p:nvSpPr>
          <p:cNvPr id="56" name="Text 34"/>
          <p:cNvSpPr/>
          <p:nvPr/>
        </p:nvSpPr>
        <p:spPr>
          <a:xfrm>
            <a:off x="10002143" y="62293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50" dirty="0"/>
          </a:p>
        </p:txBody>
      </p:sp>
      <p:sp>
        <p:nvSpPr>
          <p:cNvPr id="57" name="Text 35"/>
          <p:cNvSpPr/>
          <p:nvPr/>
        </p:nvSpPr>
        <p:spPr>
          <a:xfrm>
            <a:off x="9971336" y="66294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58" name="Text 36"/>
          <p:cNvSpPr/>
          <p:nvPr/>
        </p:nvSpPr>
        <p:spPr>
          <a:xfrm>
            <a:off x="10413057" y="66294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59" name="Text 37"/>
          <p:cNvSpPr/>
          <p:nvPr/>
        </p:nvSpPr>
        <p:spPr>
          <a:xfrm>
            <a:off x="10999887" y="66294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38"/>
          <p:cNvSpPr/>
          <p:nvPr/>
        </p:nvSpPr>
        <p:spPr>
          <a:xfrm>
            <a:off x="11784062" y="66294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48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4485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95400"/>
            <a:ext cx="5486400" cy="422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459" y="2362200"/>
            <a:ext cx="3342084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459" y="3962400"/>
            <a:ext cx="4062264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753100"/>
            <a:ext cx="54864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295400"/>
            <a:ext cx="5486400" cy="1181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9431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2019300"/>
            <a:ext cx="15240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Case Study: Rust (2/2)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685800" y="1524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Ownership Example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685800" y="1866900"/>
            <a:ext cx="2469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fn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994618" y="1866900"/>
            <a:ext cx="4939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main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1406277" y="1866900"/>
            <a:ext cx="1358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 {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1097459" y="2133600"/>
            <a:ext cx="32102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s1 owns the string data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1249859" y="2362200"/>
            <a:ext cx="40105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 s1 = String::from(</a:t>
            </a:r>
            <a:r>
              <a:rPr lang="en-US" sz="1350" dirty="0">
                <a:solidFill>
                  <a:srgbClr val="FDE04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"hello"</a:t>
            </a: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1350" dirty="0"/>
          </a:p>
        </p:txBody>
      </p:sp>
      <p:sp>
        <p:nvSpPr>
          <p:cNvPr id="19" name="Text 7"/>
          <p:cNvSpPr/>
          <p:nvPr/>
        </p:nvSpPr>
        <p:spPr>
          <a:xfrm>
            <a:off x="1097459" y="2933700"/>
            <a:ext cx="66670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Ownership of the string data is moved from s1 to s2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1278434" y="3162300"/>
            <a:ext cx="16987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highlight>
                  <a:srgbClr val="4F46E5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 s2 = s1;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1097459" y="3733800"/>
            <a:ext cx="2839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s2 now owns the data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1249859" y="3962400"/>
            <a:ext cx="4874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println!("{}", s2); </a:t>
            </a:r>
            <a:r>
              <a:rPr lang="en-US" sz="135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"hello"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1097459" y="4533900"/>
            <a:ext cx="70374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F444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Error: s1 is no longer valid after ownership was moved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1097459" y="4800600"/>
            <a:ext cx="5432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println!("{}", s1); // COMPILE-TIME ERROR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5624513" y="5067300"/>
            <a:ext cx="1235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609600" y="59055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Ownership Flow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6477000" y="1524000"/>
            <a:ext cx="603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 About Rust's Ownership</a:t>
            </a:r>
            <a:endParaRPr lang="en-US" sz="1500" dirty="0"/>
          </a:p>
        </p:txBody>
      </p:sp>
      <p:sp>
        <p:nvSpPr>
          <p:cNvPr id="28" name="Text 16"/>
          <p:cNvSpPr/>
          <p:nvPr/>
        </p:nvSpPr>
        <p:spPr>
          <a:xfrm>
            <a:off x="6896100" y="1943100"/>
            <a:ext cx="26373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5B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 Semantics: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When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115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115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95400"/>
            <a:ext cx="11277600" cy="2324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240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913" y="163830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3048000"/>
            <a:ext cx="1989237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3237" y="3048000"/>
            <a:ext cx="2149227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48100"/>
            <a:ext cx="11277600" cy="2247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76700"/>
            <a:ext cx="533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913" y="41910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0" y="5334000"/>
            <a:ext cx="2254597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8597" y="5334000"/>
            <a:ext cx="2254597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6324600"/>
            <a:ext cx="11277600" cy="1333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6553200"/>
            <a:ext cx="5334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913" y="666750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1600" y="725805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06025" y="7391400"/>
            <a:ext cx="1714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01176" y="73914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628983" y="7391400"/>
            <a:ext cx="257175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Exercises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371600" y="1524000"/>
            <a:ext cx="64508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Static vs Dynamic Typing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371600" y="1866900"/>
            <a:ext cx="6450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Using Java and Python as examples, discuss the trade-offs in terms of: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543050" y="2171700"/>
            <a:ext cx="649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speed and productivity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543050" y="2438400"/>
            <a:ext cx="649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 safety and error detection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543050" y="2705100"/>
            <a:ext cx="5413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characteristics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485900" y="3048000"/>
            <a:ext cx="23870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 /* Java */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3627537" y="3048000"/>
            <a:ext cx="2579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 /* Python */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1371600" y="4076700"/>
            <a:ext cx="64934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 Polymorphism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1371600" y="4419600"/>
            <a:ext cx="6493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code snippets for C++ and Haskell illustrating: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1543050" y="4724400"/>
            <a:ext cx="6539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 polymorphism (generics)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543050" y="4991100"/>
            <a:ext cx="6539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Ad-hoc polymorphism (overloading)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485900" y="5334000"/>
            <a:ext cx="27055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Box&lt;T&gt; { T value; }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3892897" y="5334000"/>
            <a:ext cx="22545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add(int a, int b) { return a + b; }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1371600" y="6553200"/>
            <a:ext cx="95498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37" name="Text 15"/>
          <p:cNvSpPr/>
          <p:nvPr/>
        </p:nvSpPr>
        <p:spPr>
          <a:xfrm>
            <a:off x="1371600" y="6896100"/>
            <a:ext cx="1145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are dependent types important in proving correctness of programs, particularly in safety-critical systems?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1562100" y="7239000"/>
            <a:ext cx="1123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Consider how dependent types enable compile-time verification of properties that would otherwise require runtime checks or formal proofs.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0" y="7467600"/>
            <a:ext cx="1219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Submit your solutions as a single PDF document by the deadline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10071050" y="7734300"/>
            <a:ext cx="2898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</a:t>
            </a:r>
            <a:endParaRPr lang="en-US" sz="900" dirty="0"/>
          </a:p>
        </p:txBody>
      </p:sp>
      <p:sp>
        <p:nvSpPr>
          <p:cNvPr id="41" name="Text 19"/>
          <p:cNvSpPr/>
          <p:nvPr/>
        </p:nvSpPr>
        <p:spPr>
          <a:xfrm>
            <a:off x="10503098" y="77343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42" name="Text 20"/>
          <p:cNvSpPr/>
          <p:nvPr/>
        </p:nvSpPr>
        <p:spPr>
          <a:xfrm>
            <a:off x="11089928" y="7429500"/>
            <a:ext cx="325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C++</a:t>
            </a:r>
            <a:endParaRPr lang="en-US" sz="900" dirty="0"/>
          </a:p>
        </p:txBody>
      </p:sp>
      <p:sp>
        <p:nvSpPr>
          <p:cNvPr id="43" name="Text 21"/>
          <p:cNvSpPr/>
          <p:nvPr/>
        </p:nvSpPr>
        <p:spPr>
          <a:xfrm>
            <a:off x="11551890" y="7734300"/>
            <a:ext cx="493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Haskell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Microsoft Office PowerPoint</Application>
  <PresentationFormat>Widescreen</PresentationFormat>
  <Paragraphs>376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2025-10-01T22:39:23Z</dcterms:created>
  <dcterms:modified xsi:type="dcterms:W3CDTF">2026-01-26T19:49:15Z</dcterms:modified>
</cp:coreProperties>
</file>